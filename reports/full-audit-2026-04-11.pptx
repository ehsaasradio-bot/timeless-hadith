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charts/chart1.xml" ContentType="application/vnd.openxmlformats-officedocument.drawingml.chart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rgbClr val="A0BA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D1D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PERFORMANCE</c:v>
                  </c:pt>
                  <c:pt idx="1">
                    <c:v>SEO</c:v>
                  </c:pt>
                  <c:pt idx="2">
                    <c:v>SECURITY</c:v>
                  </c:pt>
                  <c:pt idx="3">
                    <c:v>CSS ARCH.</c:v>
                  </c:pt>
                  <c:pt idx="4">
                    <c:v>ACCESSIBILITY</c:v>
                  </c:pt>
                  <c:pt idx="5">
                    <c:v>COMPLIANCE</c:v>
                  </c:pt>
                  <c:pt idx="6">
                    <c:v>CODE QUALITY</c:v>
                  </c:pt>
                  <c:pt idx="7">
                    <c:v>DEVOPS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78</c:v>
                </c:pt>
                <c:pt idx="1">
                  <c:v>88</c:v>
                </c:pt>
                <c:pt idx="2">
                  <c:v>82</c:v>
                </c:pt>
                <c:pt idx="3">
                  <c:v>74</c:v>
                </c:pt>
                <c:pt idx="4">
                  <c:v>80</c:v>
                </c:pt>
                <c:pt idx="5">
                  <c:v>85</c:v>
                </c:pt>
                <c:pt idx="6">
                  <c:v>81</c:v>
                </c:pt>
                <c:pt idx="7">
                  <c:v>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</c:v>
                </c:pt>
              </c:strCache>
            </c:strRef>
          </c:tx>
          <c:spPr>
            <a:solidFill>
              <a:srgbClr val="4F72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D1D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PERFORMANCE</c:v>
                  </c:pt>
                  <c:pt idx="1">
                    <c:v>SEO</c:v>
                  </c:pt>
                  <c:pt idx="2">
                    <c:v>SECURITY</c:v>
                  </c:pt>
                  <c:pt idx="3">
                    <c:v>CSS ARCH.</c:v>
                  </c:pt>
                  <c:pt idx="4">
                    <c:v>ACCESSIBILITY</c:v>
                  </c:pt>
                  <c:pt idx="5">
                    <c:v>COMPLIANCE</c:v>
                  </c:pt>
                  <c:pt idx="6">
                    <c:v>CODE QUALITY</c:v>
                  </c:pt>
                  <c:pt idx="7">
                    <c:v>DEVOPS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92</c:v>
                </c:pt>
                <c:pt idx="1">
                  <c:v>95</c:v>
                </c:pt>
                <c:pt idx="2">
                  <c:v>94</c:v>
                </c:pt>
                <c:pt idx="3">
                  <c:v>86</c:v>
                </c:pt>
                <c:pt idx="4">
                  <c:v>90</c:v>
                </c:pt>
                <c:pt idx="5">
                  <c:v>92</c:v>
                </c:pt>
                <c:pt idx="6">
                  <c:v>89</c:v>
                </c:pt>
                <c:pt idx="7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D1D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6E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E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E6E73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548640"/>
            <a:ext cx="2011680" cy="2011680"/>
          </a:xfrm>
          <a:prstGeom prst="ellipse">
            <a:avLst/>
          </a:prstGeom>
          <a:solidFill>
            <a:srgbClr val="4F72F8">
              <a:alpha val="30000"/>
            </a:srgbClr>
          </a:solidFill>
          <a:ln w="12700">
            <a:solidFill>
              <a:srgbClr val="060C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1097280"/>
            <a:ext cx="1463040" cy="1463040"/>
          </a:xfrm>
          <a:prstGeom prst="ellipse">
            <a:avLst/>
          </a:prstGeom>
          <a:solidFill>
            <a:srgbClr val="7C5CE6">
              <a:alpha val="40000"/>
            </a:srgbClr>
          </a:solidFill>
          <a:ln w="12700">
            <a:solidFill>
              <a:srgbClr val="060C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4389120"/>
            <a:ext cx="2743200" cy="2743200"/>
          </a:xfrm>
          <a:prstGeom prst="ellipse">
            <a:avLst/>
          </a:prstGeom>
          <a:solidFill>
            <a:srgbClr val="7C5CE6">
              <a:alpha val="20000"/>
            </a:srgbClr>
          </a:solidFill>
          <a:ln w="12700">
            <a:solidFill>
              <a:srgbClr val="060C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320040"/>
            <a:ext cx="201168" cy="201168"/>
          </a:xfrm>
          <a:prstGeom prst="ellipse">
            <a:avLst/>
          </a:prstGeom>
          <a:solidFill>
            <a:srgbClr val="7C5CE6"/>
          </a:solidFill>
          <a:ln w="12700">
            <a:solidFill>
              <a:srgbClr val="7C5C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0B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11, 2026  ·  PLATFORM AUDIT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 Audit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57200" y="3520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· SEO · Security · CSS · Compliance ·</a:t>
            </a:r>
            <a:pPr indent="0" marL="0">
              <a:buNone/>
            </a:pPr>
            <a:r>
              <a:rPr lang="en-US" sz="1800" b="1" dirty="0">
                <a:solidFill>
                  <a:srgbClr val="A0B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Best Practices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4389120"/>
            <a:ext cx="3840480" cy="1645920"/>
          </a:xfrm>
          <a:prstGeom prst="rect">
            <a:avLst/>
          </a:prstGeom>
          <a:solidFill>
            <a:srgbClr val="111D35"/>
          </a:solidFill>
          <a:ln w="12700">
            <a:solidFill>
              <a:srgbClr val="3A45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389120"/>
            <a:ext cx="73152" cy="164592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526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GRADE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48006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B+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685800" y="5669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foundation · 2 P0 items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Syed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0" y="6355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timelesshadith.com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20040"/>
            <a:ext cx="201168" cy="201168"/>
          </a:xfrm>
          <a:prstGeom prst="ellipse">
            <a:avLst/>
          </a:prstGeom>
          <a:solidFill>
            <a:srgbClr val="7C5CE6"/>
          </a:solidFill>
          <a:ln w="12700">
            <a:solidFill>
              <a:srgbClr val="7C5C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CONTEXT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Audit Exists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57200" cy="4572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94560"/>
            <a:ext cx="11274552" cy="82296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73152" cy="82296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860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boundary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2606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0–10 enhancement sprint just shipped. Before the Supabase migration and social automation work begins, we freeze and grade the platform.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11274552" cy="82296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154680"/>
            <a:ext cx="73152" cy="82296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246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surface growth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35661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spans Cloudflare Pages, a Worker, Supabase with RLS, OpenAI, and a service worker cache. Each layer introduces new failure modes.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11274552" cy="82296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114800"/>
            <a:ext cx="73152" cy="82296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2062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recommendations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" y="45262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is tied to a concrete file, line number, and remediation action — no generic advice.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5074920"/>
            <a:ext cx="11274552" cy="82296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074920"/>
            <a:ext cx="73152" cy="82296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1663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Remediation-ready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" y="5486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are sequenced into a two-week sprint plan with estimated effort and priority tags.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 · Full Audit · April 11,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20040"/>
            <a:ext cx="201168" cy="201168"/>
          </a:xfrm>
          <a:prstGeom prst="ellipse">
            <a:avLst/>
          </a:prstGeom>
          <a:solidFill>
            <a:srgbClr val="7C5CE6"/>
          </a:solidFill>
          <a:ln w="12700">
            <a:solidFill>
              <a:srgbClr val="7C5C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SCOPE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Audited and How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57200" cy="4572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94560"/>
            <a:ext cx="5760720" cy="384048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774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697480"/>
            <a:ext cx="5303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HTML pages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JS modules (172 KB total)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shared stylesheet (styles.css, 20 KB)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 + Pages Function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cache strategy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/ headers (_headers)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sitemap.xml (102 URLs) · robots.txt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2194560"/>
            <a:ext cx="5760720" cy="384048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3774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5303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code analysis (grep, AST walk)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+ headers inspection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surface scan (innerHTML + sinks)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Schema.org + meta completeness check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size + dependency graph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AA heuristic review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spec vs implementation diff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 · Full Audit · April 11,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20040"/>
            <a:ext cx="201168" cy="201168"/>
          </a:xfrm>
          <a:prstGeom prst="ellipse">
            <a:avLst/>
          </a:prstGeom>
          <a:solidFill>
            <a:srgbClr val="7C5CE6"/>
          </a:solidFill>
          <a:ln w="12700">
            <a:solidFill>
              <a:srgbClr val="7C5C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SCOREBOARD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Scorecard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57200" cy="4572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94560"/>
            <a:ext cx="2697480" cy="182880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94560"/>
            <a:ext cx="2697480" cy="54864"/>
          </a:xfrm>
          <a:prstGeom prst="rect">
            <a:avLst/>
          </a:prstGeom>
          <a:solidFill>
            <a:srgbClr val="E0A314"/>
          </a:solidFill>
          <a:ln w="12700">
            <a:solidFill>
              <a:srgbClr val="E0A3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591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6974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100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40080" y="3611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CSS, video bloat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2194560"/>
            <a:ext cx="2697480" cy="182880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2194560"/>
            <a:ext cx="2697480" cy="54864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3591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26974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100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3474720" y="3611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schema, meta gaps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2194560"/>
            <a:ext cx="2697480" cy="182880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2194560"/>
            <a:ext cx="2697480" cy="54864"/>
          </a:xfrm>
          <a:prstGeom prst="rect">
            <a:avLst/>
          </a:prstGeom>
          <a:solidFill>
            <a:srgbClr val="E0A314"/>
          </a:solidFill>
          <a:ln w="12700">
            <a:solidFill>
              <a:srgbClr val="E0A3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3591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26974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100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6309360" y="3611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gap, no rate limit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961120" y="2194560"/>
            <a:ext cx="2697480" cy="182880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961120" y="2194560"/>
            <a:ext cx="2697480" cy="54864"/>
          </a:xfrm>
          <a:prstGeom prst="rect">
            <a:avLst/>
          </a:prstGeom>
          <a:solidFill>
            <a:srgbClr val="E0A314"/>
          </a:solidFill>
          <a:ln w="12700">
            <a:solidFill>
              <a:srgbClr val="E0A31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0" y="23591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ARCH.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0" y="26974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100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9144000" y="3611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bloat, no build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297680"/>
            <a:ext cx="2697480" cy="182880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4297680"/>
            <a:ext cx="2697480" cy="54864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4622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48006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100</a:t>
            </a:r>
            <a:endParaRPr lang="en-US" sz="4400" dirty="0"/>
          </a:p>
        </p:txBody>
      </p:sp>
      <p:sp>
        <p:nvSpPr>
          <p:cNvPr id="32" name="Text 30"/>
          <p:cNvSpPr/>
          <p:nvPr/>
        </p:nvSpPr>
        <p:spPr>
          <a:xfrm>
            <a:off x="640080" y="57150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compliant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91840" y="4297680"/>
            <a:ext cx="2697480" cy="182880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4297680"/>
            <a:ext cx="2697480" cy="54864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0" y="44622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474720" y="48006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100</a:t>
            </a:r>
            <a:endParaRPr lang="en-US" sz="4400" dirty="0"/>
          </a:p>
        </p:txBody>
      </p:sp>
      <p:sp>
        <p:nvSpPr>
          <p:cNvPr id="37" name="Text 35"/>
          <p:cNvSpPr/>
          <p:nvPr/>
        </p:nvSpPr>
        <p:spPr>
          <a:xfrm>
            <a:off x="3474720" y="57150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present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26480" y="4297680"/>
            <a:ext cx="2697480" cy="182880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26480" y="4297680"/>
            <a:ext cx="2697480" cy="54864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44622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09360" y="48006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100</a:t>
            </a:r>
            <a:endParaRPr lang="en-US" sz="4400" dirty="0"/>
          </a:p>
        </p:txBody>
      </p:sp>
      <p:sp>
        <p:nvSpPr>
          <p:cNvPr id="42" name="Text 40"/>
          <p:cNvSpPr/>
          <p:nvPr/>
        </p:nvSpPr>
        <p:spPr>
          <a:xfrm>
            <a:off x="6309360" y="57150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JS, XSS surface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961120" y="4297680"/>
            <a:ext cx="2697480" cy="182880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961120" y="4297680"/>
            <a:ext cx="2697480" cy="54864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0" y="44622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144000" y="48006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100</a:t>
            </a:r>
            <a:endParaRPr lang="en-US" sz="4400" dirty="0"/>
          </a:p>
        </p:txBody>
      </p:sp>
      <p:sp>
        <p:nvSpPr>
          <p:cNvPr id="47" name="Text 45"/>
          <p:cNvSpPr/>
          <p:nvPr/>
        </p:nvSpPr>
        <p:spPr>
          <a:xfrm>
            <a:off x="9144000" y="57150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CI + secrets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 · Full Audit · April 11, 2026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20040"/>
            <a:ext cx="201168" cy="201168"/>
          </a:xfrm>
          <a:prstGeom prst="ellipse">
            <a:avLst/>
          </a:prstGeom>
          <a:solidFill>
            <a:srgbClr val="7C5CE6"/>
          </a:solidFill>
          <a:ln w="12700">
            <a:solidFill>
              <a:srgbClr val="7C5C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SUMMARY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by Severity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57200" cy="4572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331720"/>
            <a:ext cx="21488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28700" y="2651760"/>
            <a:ext cx="1188720" cy="11887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974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4023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389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fix this week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34640" y="2331720"/>
            <a:ext cx="21488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14700" y="2651760"/>
            <a:ext cx="1188720" cy="11887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0" y="26974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2834640" y="4023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4389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+ performance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20640" y="2331720"/>
            <a:ext cx="21488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00700" y="2651760"/>
            <a:ext cx="1188720" cy="1188720"/>
          </a:xfrm>
          <a:prstGeom prst="ellipse">
            <a:avLst/>
          </a:prstGeom>
          <a:solidFill>
            <a:srgbClr val="E0A314"/>
          </a:solidFill>
          <a:ln w="12700">
            <a:solidFill>
              <a:srgbClr val="E0A3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26974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5120640" y="4023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12080" y="4389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+ CSS hygiene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06640" y="2331720"/>
            <a:ext cx="21488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886700" y="2651760"/>
            <a:ext cx="1188720" cy="1188720"/>
          </a:xfrm>
          <a:prstGeom prst="ellipse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0" y="26974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7406640" y="4023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98080" y="4389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+ consistency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692640" y="2331720"/>
            <a:ext cx="21488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172700" y="2651760"/>
            <a:ext cx="1188720" cy="1188720"/>
          </a:xfrm>
          <a:prstGeom prst="ellipse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92640" y="26974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31" name="Text 29"/>
          <p:cNvSpPr/>
          <p:nvPr/>
        </p:nvSpPr>
        <p:spPr>
          <a:xfrm>
            <a:off x="9692640" y="4023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784080" y="4389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these as-is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5486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findings across 8 categories · 2 require immediate action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 · Full Audit · April 11, 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20040"/>
            <a:ext cx="201168" cy="201168"/>
          </a:xfrm>
          <a:prstGeom prst="ellipse">
            <a:avLst/>
          </a:prstGeom>
          <a:solidFill>
            <a:srgbClr val="7C5CE6"/>
          </a:solidFill>
          <a:ln w="12700">
            <a:solidFill>
              <a:srgbClr val="7C5C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CRITICAL PATH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Findings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57200" cy="4572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94560"/>
            <a:ext cx="11274552" cy="749808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73152" cy="74980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77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2395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default regression (dark vs spec)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966960" y="2404872"/>
            <a:ext cx="1691640" cy="347472"/>
          </a:xfrm>
          <a:prstGeom prst="rect">
            <a:avLst>
              <a:gd name="adj" fmla="val 13158"/>
            </a:avLst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6960" y="240487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035808"/>
            <a:ext cx="11274552" cy="749808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035808"/>
            <a:ext cx="73152" cy="74980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21868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63040" y="323697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 MB unoptimized popup.mp4 in repo root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966960" y="3246120"/>
            <a:ext cx="1691640" cy="347472"/>
          </a:xfrm>
          <a:prstGeom prst="rect">
            <a:avLst>
              <a:gd name="adj" fmla="val 13158"/>
            </a:avLst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66960" y="32461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877056"/>
            <a:ext cx="11274552" cy="749808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877056"/>
            <a:ext cx="73152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05993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463040" y="407822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KB inline CSS in index.html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966960" y="4087368"/>
            <a:ext cx="1691640" cy="347472"/>
          </a:xfrm>
          <a:prstGeom prst="rect">
            <a:avLst>
              <a:gd name="adj" fmla="val 13158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66960" y="408736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718304"/>
            <a:ext cx="11274552" cy="749808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718304"/>
            <a:ext cx="73152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90118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463040" y="49194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allows script-src-attr unsafe-inline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966960" y="4928616"/>
            <a:ext cx="1691640" cy="347472"/>
          </a:xfrm>
          <a:prstGeom prst="rect">
            <a:avLst>
              <a:gd name="adj" fmla="val 13158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66960" y="49286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5559552"/>
            <a:ext cx="11274552" cy="749808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5559552"/>
            <a:ext cx="73152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57424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46304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innerHTML assignments — XSS surface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9966960" y="5769864"/>
            <a:ext cx="1691640" cy="347472"/>
          </a:xfrm>
          <a:prstGeom prst="rect">
            <a:avLst>
              <a:gd name="adj" fmla="val 13158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66960" y="576986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 · Full Audit · April 11, 2026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20040"/>
            <a:ext cx="201168" cy="201168"/>
          </a:xfrm>
          <a:prstGeom prst="ellipse">
            <a:avLst/>
          </a:prstGeom>
          <a:solidFill>
            <a:srgbClr val="7C5CE6"/>
          </a:solidFill>
          <a:ln w="12700">
            <a:solidFill>
              <a:srgbClr val="7C5C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0" dirty="0"/>
          </a:p>
        </p:txBody>
      </p:sp>
      <p:sp>
        <p:nvSpPr>
          <p:cNvPr id="6" name="Text 4"/>
          <p:cNvSpPr/>
          <p:nvPr/>
        </p:nvSpPr>
        <p:spPr>
          <a:xfrm>
            <a:off x="5303520" y="2560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0B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 ·  PERFORMANCE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0" y="30175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5303520" y="3931920"/>
            <a:ext cx="731520" cy="54864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0" y="4114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Payload, caching, service worker, Core Web Vitals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 · Full Audit · April 11,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20040"/>
            <a:ext cx="201168" cy="201168"/>
          </a:xfrm>
          <a:prstGeom prst="ellipse">
            <a:avLst/>
          </a:prstGeom>
          <a:solidFill>
            <a:srgbClr val="7C5CE6"/>
          </a:solidFill>
          <a:ln w="12700">
            <a:solidFill>
              <a:srgbClr val="7C5C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 ·  BY THE NUMBERS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&amp; Asset Profile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57200" cy="4572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94560"/>
            <a:ext cx="2697480" cy="169164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1691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146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KB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85800" y="3291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2194560"/>
            <a:ext cx="2697480" cy="169164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2194560"/>
            <a:ext cx="54864" cy="169164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25146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KB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3520440" y="3291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styles.css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2194560"/>
            <a:ext cx="2697480" cy="169164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2194560"/>
            <a:ext cx="54864" cy="1691640"/>
          </a:xfrm>
          <a:prstGeom prst="rect">
            <a:avLst/>
          </a:prstGeom>
          <a:solidFill>
            <a:srgbClr val="E0A314"/>
          </a:solidFill>
          <a:ln w="12700">
            <a:solidFill>
              <a:srgbClr val="E0A3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5146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 KB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355080" y="3291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JS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61120" y="2194560"/>
            <a:ext cx="2697480" cy="169164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0" y="2194560"/>
            <a:ext cx="54864" cy="16916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9720" y="25146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 MB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9189720" y="3291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popup.mp4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2697480" cy="169164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114800"/>
            <a:ext cx="54864" cy="169164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4348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685800" y="5212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files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4114800"/>
            <a:ext cx="2697480" cy="169164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91840" y="4114800"/>
            <a:ext cx="54864" cy="169164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20440" y="44348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3520440" y="5212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Sitemap URLs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0" y="4114800"/>
            <a:ext cx="2697480" cy="169164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0" y="4114800"/>
            <a:ext cx="54864" cy="169164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44348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3400" dirty="0"/>
          </a:p>
        </p:txBody>
      </p:sp>
      <p:sp>
        <p:nvSpPr>
          <p:cNvPr id="35" name="Text 33"/>
          <p:cNvSpPr/>
          <p:nvPr/>
        </p:nvSpPr>
        <p:spPr>
          <a:xfrm>
            <a:off x="6355080" y="5212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 pre-cached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961120" y="4114800"/>
            <a:ext cx="2697480" cy="169164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61120" y="4114800"/>
            <a:ext cx="54864" cy="169164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89720" y="44348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</a:t>
            </a:r>
            <a:endParaRPr lang="en-US" sz="3400" dirty="0"/>
          </a:p>
        </p:txBody>
      </p:sp>
      <p:sp>
        <p:nvSpPr>
          <p:cNvPr id="39" name="Text 37"/>
          <p:cNvSpPr/>
          <p:nvPr/>
        </p:nvSpPr>
        <p:spPr>
          <a:xfrm>
            <a:off x="9189720" y="5212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 version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 · Full Audit · April 11, 2026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20040"/>
            <a:ext cx="201168" cy="201168"/>
          </a:xfrm>
          <a:prstGeom prst="ellipse">
            <a:avLst/>
          </a:prstGeom>
          <a:solidFill>
            <a:srgbClr val="7C5CE6"/>
          </a:solidFill>
          <a:ln w="12700">
            <a:solidFill>
              <a:srgbClr val="7C5C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 ·  ASSESSMENT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Working vs What's Not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57200" cy="4572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94560"/>
            <a:ext cx="5623560" cy="402336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623560" cy="73152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395728"/>
            <a:ext cx="320040" cy="320040"/>
          </a:xfrm>
          <a:prstGeom prst="ellipse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7744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1560" y="2395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2834640"/>
            <a:ext cx="5212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non-critical scripts use defer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with stale-while-revalidate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fallback to /offline.html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paired with WebP via &lt;picture&gt;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 preconnected (Google)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assets cached 1 year immutable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Lazy-load on below-fold images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2194560"/>
            <a:ext cx="5486400" cy="402336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2194560"/>
            <a:ext cx="54864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2395728"/>
            <a:ext cx="320040" cy="3200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237744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58000" y="2395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37960" y="2834640"/>
            <a:ext cx="5074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KB inline CSS blocks repeat cache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 MB popup.mp4 shipped on every deploy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js/data.js (528 LOC) loaded on every page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image dims on avatar — CLS risk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 precaches 22 assets — slow install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Insights beacon without defer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CSS minification pipeline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 · Full Audit · April 11,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20040"/>
            <a:ext cx="201168" cy="201168"/>
          </a:xfrm>
          <a:prstGeom prst="ellipse">
            <a:avLst/>
          </a:prstGeom>
          <a:solidFill>
            <a:srgbClr val="7C5CE6"/>
          </a:solidFill>
          <a:ln w="12700">
            <a:solidFill>
              <a:srgbClr val="7C5C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 ·  FINDING 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 MB popup.mp4 Sitting in Repo Root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57200" cy="4572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0" y="777240"/>
            <a:ext cx="2194560" cy="411480"/>
          </a:xfrm>
          <a:prstGeom prst="rect">
            <a:avLst>
              <a:gd name="adj" fmla="val 13333"/>
            </a:avLst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0" y="777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11274552" cy="137160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240280"/>
            <a:ext cx="10835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popup.mp4 (8.6 MB) is committed at repo root and ships on every Cloudflare Pages deploy. Grep across HTML, CSS, and JS confirms zero references — the file is orphaned.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3749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657600"/>
            <a:ext cx="374904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1605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waste on every deploy. Slower git clones. Bloated repository history. Counts against Pages artifact size.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43400" y="3657600"/>
            <a:ext cx="3749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43400" y="3657600"/>
            <a:ext cx="3749040" cy="73152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26280" y="41605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`git rm popup.mp4` or move to `archive/` (gitignored). If kept, re-encode H.265 + AV1 and set `&lt;video preload="none"&gt;`.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0" y="3657600"/>
            <a:ext cx="3749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0" y="3657600"/>
            <a:ext cx="3749040" cy="73152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0" y="41605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· single commit · zero regression risk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59893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5C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popup.mp4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 · Full Audit · April 11,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20040"/>
            <a:ext cx="201168" cy="201168"/>
          </a:xfrm>
          <a:prstGeom prst="ellipse">
            <a:avLst/>
          </a:prstGeom>
          <a:solidFill>
            <a:srgbClr val="7C5CE6"/>
          </a:solidFill>
          <a:ln w="12700">
            <a:solidFill>
              <a:srgbClr val="7C5C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 ·  FINDING 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KB Inline CSS Inside index.html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57200" cy="4572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0" y="777240"/>
            <a:ext cx="2194560" cy="411480"/>
          </a:xfrm>
          <a:prstGeom prst="rect">
            <a:avLst>
              <a:gd name="adj" fmla="val 1333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0" y="777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11274552" cy="137160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240280"/>
            <a:ext cx="10835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contains a 26,668-byte &lt;style&gt; block — roughly 60% of the 44 KB HTML payload. This CSS bypasses the browser cache, inflates Largest Contentful Paint on repeat visits, and duplicates tokens already in css/styles.css.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3749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657600"/>
            <a:ext cx="374904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1605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LCP on repeat visits. Cache miss overhead. Token drift between inline styles and the design system.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43400" y="3657600"/>
            <a:ext cx="3749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43400" y="3657600"/>
            <a:ext cx="3749040" cy="73152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26280" y="41605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hero + AI-search + Topics + Featured blocks into css/home.css. Keep only ~5 KB first-paint critical CSS inline.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0" y="3657600"/>
            <a:ext cx="3749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0" y="3657600"/>
            <a:ext cx="3749040" cy="73152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0" y="41605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 · affects index.html only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59893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5C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 · lines 55–810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 · Full Audit · April 11,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20040"/>
            <a:ext cx="201168" cy="201168"/>
          </a:xfrm>
          <a:prstGeom prst="ellipse">
            <a:avLst/>
          </a:prstGeom>
          <a:solidFill>
            <a:srgbClr val="7C5CE6"/>
          </a:solidFill>
          <a:ln w="12700">
            <a:solidFill>
              <a:srgbClr val="7C5C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 ·  FINDING 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Hadith JSON Bundled Into Every Page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57200" cy="4572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0" y="777240"/>
            <a:ext cx="2194560" cy="411480"/>
          </a:xfrm>
          <a:prstGeom prst="rect">
            <a:avLst>
              <a:gd name="adj" fmla="val 1333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0" y="777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11274552" cy="137160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240280"/>
            <a:ext cx="10835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js/data.js is the legacy static source-of-truth (528 LOC) while the Supabase migration is in flight. It loads on every page navigation even though the Supabase + Worker stack already provides the same data via the match_chunks RPC on demand.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3749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657600"/>
            <a:ext cx="374904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1605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~38 KB of unused JS on every navigation. Duplicate data path. Confusion over source of truth.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43400" y="3657600"/>
            <a:ext cx="3749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43400" y="3657600"/>
            <a:ext cx="3749040" cy="73152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26280" y="41605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Supabase cut-over per CLAUDE.md Phase 0. Delete js/data.js. Interim: gate behind `if (!window.__SB_READY)`.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0" y="3657600"/>
            <a:ext cx="3749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0" y="3657600"/>
            <a:ext cx="3749040" cy="73152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0" y="41605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hours · part of planned Supabase sprint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59893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5C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js/data.js · 528 lines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 · Full Audit · April 11,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20040"/>
            <a:ext cx="201168" cy="201168"/>
          </a:xfrm>
          <a:prstGeom prst="ellipse">
            <a:avLst/>
          </a:prstGeom>
          <a:solidFill>
            <a:srgbClr val="7C5CE6"/>
          </a:solidFill>
          <a:ln w="12700">
            <a:solidFill>
              <a:srgbClr val="7C5C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0" dirty="0"/>
          </a:p>
        </p:txBody>
      </p:sp>
      <p:sp>
        <p:nvSpPr>
          <p:cNvPr id="6" name="Text 4"/>
          <p:cNvSpPr/>
          <p:nvPr/>
        </p:nvSpPr>
        <p:spPr>
          <a:xfrm>
            <a:off x="5303520" y="2560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0B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 ·  SEO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0" y="30175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 Optimization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5303520" y="3931920"/>
            <a:ext cx="731520" cy="54864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0" y="4114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Meta, schema, semantics, sitemap, internal links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 · Full Audit · April 11,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20040"/>
            <a:ext cx="201168" cy="201168"/>
          </a:xfrm>
          <a:prstGeom prst="ellipse">
            <a:avLst/>
          </a:prstGeom>
          <a:solidFill>
            <a:srgbClr val="7C5CE6"/>
          </a:solidFill>
          <a:ln w="12700">
            <a:solidFill>
              <a:srgbClr val="7C5C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 ·  ASSESSMENT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Working vs What's Not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57200" cy="4572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94560"/>
            <a:ext cx="5623560" cy="402336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623560" cy="73152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957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743200"/>
            <a:ext cx="52120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&lt;title&gt; on every page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URLs set site-wide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OpenGraph + Twitter Card meta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+ SearchAction JSON-LD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102-URL sitemap.xml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robots.txt disallows /archive/ + /reports/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H1 per page, clean hierarchy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2194560"/>
            <a:ext cx="5486400" cy="402336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2194560"/>
            <a:ext cx="5486400" cy="73152"/>
          </a:xfrm>
          <a:prstGeom prst="rect">
            <a:avLst/>
          </a:prstGeom>
          <a:solidFill>
            <a:srgbClr val="E0A314"/>
          </a:solidFill>
          <a:ln w="12700">
            <a:solidFill>
              <a:srgbClr val="E0A3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3957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0A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2743200"/>
            <a:ext cx="50749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Organization or BreadcrumbList schema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pages miss FAQPage / ItemList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hreflang on bilingual (EN + AR) content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meta description is generic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images use empty alt=""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RSS/Atom feed for hadith-of-the-day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anchor links under-utilized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 · Full Audit · April 11,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20040"/>
            <a:ext cx="201168" cy="201168"/>
          </a:xfrm>
          <a:prstGeom prst="ellipse">
            <a:avLst/>
          </a:prstGeom>
          <a:solidFill>
            <a:srgbClr val="7C5CE6"/>
          </a:solidFill>
          <a:ln w="12700">
            <a:solidFill>
              <a:srgbClr val="7C5C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 ·  FINDING 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BreadcrumbList Schema on Category Pages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57200" cy="4572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0" y="777240"/>
            <a:ext cx="2194560" cy="411480"/>
          </a:xfrm>
          <a:prstGeom prst="rect">
            <a:avLst>
              <a:gd name="adj" fmla="val 13333"/>
            </a:avLst>
          </a:prstGeom>
          <a:solidFill>
            <a:srgbClr val="E0A314"/>
          </a:solidFill>
          <a:ln w="12700">
            <a:solidFill>
              <a:srgbClr val="E0A3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0" y="777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11274552" cy="137160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240280"/>
            <a:ext cx="10835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category.html is the deepest content page but lacks a BreadcrumbList JSON-LD block. Google rewards breadcrumb schema with rich SERP snippets; today the page renders as a generic blue link.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3749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657600"/>
            <a:ext cx="374904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1605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click-through from Google search. No breadcrumb visual in SERP. Reduced perceived authority.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43400" y="3657600"/>
            <a:ext cx="3749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43400" y="3657600"/>
            <a:ext cx="3749040" cy="73152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26280" y="41605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JSON-LD in category-head.js based on the ?cat= param: Home → Categories → {Book Name}.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0" y="3657600"/>
            <a:ext cx="3749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0" y="3657600"/>
            <a:ext cx="3749040" cy="73152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0" y="41605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 · category-head.js only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59893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5C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js/category-head.js · category.html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 · Full Audit · April 11,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20040"/>
            <a:ext cx="201168" cy="201168"/>
          </a:xfrm>
          <a:prstGeom prst="ellipse">
            <a:avLst/>
          </a:prstGeom>
          <a:solidFill>
            <a:srgbClr val="7C5CE6"/>
          </a:solidFill>
          <a:ln w="12700">
            <a:solidFill>
              <a:srgbClr val="7C5C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 ·  FINDING 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Homepage Meta Description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57200" cy="4572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0" y="777240"/>
            <a:ext cx="2194560" cy="411480"/>
          </a:xfrm>
          <a:prstGeom prst="rect">
            <a:avLst>
              <a:gd name="adj" fmla="val 13333"/>
            </a:avLst>
          </a:prstGeom>
          <a:solidFill>
            <a:srgbClr val="E0A314"/>
          </a:solidFill>
          <a:ln w="12700">
            <a:solidFill>
              <a:srgbClr val="E0A3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0" y="777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11274552" cy="137160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240280"/>
            <a:ext cx="10835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'Authentic, searchable hadiths from Prophet Muhammad (PBUH). Explore timeless guidance by topic, beautifully organised.' Good brand voice but low keyword density for target queries ('Sahih al-Bukhari search', 'hadith by topic').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3749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657600"/>
            <a:ext cx="374904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1605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organic ranking for high-intent queries. Missed conversion from search snippets.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43400" y="3657600"/>
            <a:ext cx="3749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43400" y="3657600"/>
            <a:ext cx="3749040" cy="73152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26280" y="41605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to 150–160 chars including: Sahih al-Bukhari, 7,277 hadiths, AI search, topic browsing, free access. Validate in Google SERP preview.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0" y="3657600"/>
            <a:ext cx="3749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0" y="3657600"/>
            <a:ext cx="3749040" cy="73152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0" y="41605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minutes · single-line change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59893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5C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 · line 9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 · Full Audit · April 11,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20040"/>
            <a:ext cx="201168" cy="201168"/>
          </a:xfrm>
          <a:prstGeom prst="ellipse">
            <a:avLst/>
          </a:prstGeom>
          <a:solidFill>
            <a:srgbClr val="7C5CE6"/>
          </a:solidFill>
          <a:ln w="12700">
            <a:solidFill>
              <a:srgbClr val="7C5C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0" dirty="0"/>
          </a:p>
        </p:txBody>
      </p:sp>
      <p:sp>
        <p:nvSpPr>
          <p:cNvPr id="6" name="Text 4"/>
          <p:cNvSpPr/>
          <p:nvPr/>
        </p:nvSpPr>
        <p:spPr>
          <a:xfrm>
            <a:off x="5303520" y="2560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0B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 ·  SECURITY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0" y="30175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Hardening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5303520" y="3931920"/>
            <a:ext cx="731520" cy="54864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0" y="4114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Headers, CSP, CORS, rate limiting, XSS surface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 · Full Audit · April 11,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20040"/>
            <a:ext cx="201168" cy="201168"/>
          </a:xfrm>
          <a:prstGeom prst="ellipse">
            <a:avLst/>
          </a:prstGeom>
          <a:solidFill>
            <a:srgbClr val="7C5CE6"/>
          </a:solidFill>
          <a:ln w="12700">
            <a:solidFill>
              <a:srgbClr val="7C5C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 ·  ASSESSMENT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 — Current State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57200" cy="4572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94560"/>
            <a:ext cx="5623560" cy="411480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623560" cy="73152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957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743200"/>
            <a:ext cx="521208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HSTS with includeSubDomains + preload (1 year)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X-Frame-Options DENY + frame-ancestors 'none'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X-Content-Type-Options nosniff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Referrer-Policy strict-origin-when-cross-origin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Permissions-Policy locks geo/mic/camera/payment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uses allow-list CORS in prod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secrets via wrangler secret put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Service-role key never leaves the Worker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length guard (500 chars) on AI endpoint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2194560"/>
            <a:ext cx="5486400" cy="411480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2194560"/>
            <a:ext cx="54864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3957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2743200"/>
            <a:ext cx="507492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allows script-src-attr 'unsafe-inline'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Function CORS uses wildcard *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rate limit on /api/ai-search (Worker + Pages)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request signing — any allow-list origin can call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Cache-Control: no-store on auth responses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CSP Report-Only endpoint configured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Turnstile / bot challenge on AI search form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policies not visible in repo — needs audit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spend cap not documented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 · Full Audit · April 11,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20040"/>
            <a:ext cx="201168" cy="201168"/>
          </a:xfrm>
          <a:prstGeom prst="ellipse">
            <a:avLst/>
          </a:prstGeom>
          <a:solidFill>
            <a:srgbClr val="7C5CE6"/>
          </a:solidFill>
          <a:ln w="12700">
            <a:solidFill>
              <a:srgbClr val="7C5C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 ·  FINDING 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Rate Limit on AI Search Endpoint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57200" cy="4572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0" y="777240"/>
            <a:ext cx="2194560" cy="411480"/>
          </a:xfrm>
          <a:prstGeom prst="rect">
            <a:avLst>
              <a:gd name="adj" fmla="val 1333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0" y="777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11274552" cy="137160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240280"/>
            <a:ext cx="10835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functions/api/ai-search.js and worker/src/index.js accept unlimited POST traffic. Query length is capped at 500 chars but request count is not. An attacker can loop through embedding + chat calls and burn the OpenAI budget in minutes.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3749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657600"/>
            <a:ext cx="374904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1605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OpenAI spend. Service degradation for real users. Potential denial-of-wallet attack.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43400" y="3657600"/>
            <a:ext cx="3749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43400" y="3657600"/>
            <a:ext cx="3749040" cy="73152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26280" y="41605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Cloudflare Turnstile on the hero search form OR use Workers KV-backed rate limiter (60 req/hr per IP). Set monthly OpenAI spend cap in dashboard.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0" y="3657600"/>
            <a:ext cx="3749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0" y="3657600"/>
            <a:ext cx="3749040" cy="73152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0" y="41605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 · Worker + form changes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59893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5C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functions/api/ai-search.js + worker/src/index.js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 · Full Audit · April 11,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20040"/>
            <a:ext cx="201168" cy="201168"/>
          </a:xfrm>
          <a:prstGeom prst="ellipse">
            <a:avLst/>
          </a:prstGeom>
          <a:solidFill>
            <a:srgbClr val="7C5CE6"/>
          </a:solidFill>
          <a:ln w="12700">
            <a:solidFill>
              <a:srgbClr val="7C5C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 ·  FINDING 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Allows script-src-attr 'unsafe-inline'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57200" cy="4572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0" y="777240"/>
            <a:ext cx="2194560" cy="411480"/>
          </a:xfrm>
          <a:prstGeom prst="rect">
            <a:avLst>
              <a:gd name="adj" fmla="val 1333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0" y="777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11274552" cy="137160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240280"/>
            <a:ext cx="10835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_headers and the inline meta CSP in index.html allow script-src-attr 'unsafe-inline'. This permits inline event handlers like onclick="…" — the most common DOM-XSS amplifier. No such handlers appear in the repo today; this is a standing door that should be closed.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3749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657600"/>
            <a:ext cx="374904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1605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blast-radius widened. Lighthouse Best Practices penalty. Invalidates otherwise strong CSP.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43400" y="3657600"/>
            <a:ext cx="3749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43400" y="3657600"/>
            <a:ext cx="3749040" cy="73152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26280" y="41605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script-src-attr 'unsafe-inline' from _headers and from index.html meta CSP. If a specific inline attr is needed later, use a nonce or move to an event listener.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0" y="3657600"/>
            <a:ext cx="3749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0" y="3657600"/>
            <a:ext cx="3749040" cy="73152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0" y="41605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 + regression test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59893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5C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_headers · index.html line 38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 · Full Audit · April 11,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20040"/>
            <a:ext cx="201168" cy="201168"/>
          </a:xfrm>
          <a:prstGeom prst="ellipse">
            <a:avLst/>
          </a:prstGeom>
          <a:solidFill>
            <a:srgbClr val="7C5CE6"/>
          </a:solidFill>
          <a:ln w="12700">
            <a:solidFill>
              <a:srgbClr val="7C5C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 ·  FINDING 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Raw innerHTML Writes — XSS Surface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57200" cy="4572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0" y="777240"/>
            <a:ext cx="2194560" cy="411480"/>
          </a:xfrm>
          <a:prstGeom prst="rect">
            <a:avLst>
              <a:gd name="adj" fmla="val 1333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0" y="777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11274552" cy="137160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240280"/>
            <a:ext cx="10835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innerHTML assignments across js/app.js, js/categories-wire.js, js/bookmarks-wire.js, and js/ai-search.js. Most concatenate hadith content, user queries, or Supabase response fields into template strings. ai-search.js is properly escaped; others trust the data source.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3749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657600"/>
            <a:ext cx="374904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1605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content injection enters Supabase (admin console, future import), every render site is vulnerable to script execution.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43400" y="3657600"/>
            <a:ext cx="3749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43400" y="3657600"/>
            <a:ext cx="3749040" cy="73152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26280" y="41605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shared safeHtml() tagged-template helper. Replace raw template-literal innerHTML with it. Prefer textContent where HTML isn't needed.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0" y="3657600"/>
            <a:ext cx="3749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0" y="3657600"/>
            <a:ext cx="3749040" cy="73152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0" y="41605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hours · spans 4 JS files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59893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5C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js/app.js · js/categories-wire.js · js/bookmarks-wire.js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 · Full Audit · April 11,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39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20040"/>
            <a:ext cx="201168" cy="201168"/>
          </a:xfrm>
          <a:prstGeom prst="ellipse">
            <a:avLst/>
          </a:prstGeom>
          <a:solidFill>
            <a:srgbClr val="7C5CE6"/>
          </a:solidFill>
          <a:ln w="12700">
            <a:solidFill>
              <a:srgbClr val="7C5C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 ·  FINDING 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 CORS on Pages Function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57200" cy="4572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0" y="777240"/>
            <a:ext cx="2194560" cy="411480"/>
          </a:xfrm>
          <a:prstGeom prst="rect">
            <a:avLst>
              <a:gd name="adj" fmla="val 13333"/>
            </a:avLst>
          </a:prstGeom>
          <a:solidFill>
            <a:srgbClr val="E0A314"/>
          </a:solidFill>
          <a:ln w="12700">
            <a:solidFill>
              <a:srgbClr val="E0A3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0" y="777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11274552" cy="137160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240280"/>
            <a:ext cx="10835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functions/api/ai-search.js line 35 sets Access-Control-Allow-Origin: '*'. The underlying Worker has a proper allow-list but the Pages proxy invalidates that defense-in-depth by exposing the same endpoint to any origin.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3749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657600"/>
            <a:ext cx="374904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1605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third-party site can embed and call the AI search endpoint, spending OpenAI budget on our behalf.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43400" y="3657600"/>
            <a:ext cx="3749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43400" y="3657600"/>
            <a:ext cx="3749040" cy="73152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26280" y="41605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the request Origin only if it's in an allow-list matching the Worker's. Fallback to https://timelesshadith.com.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0" y="3657600"/>
            <a:ext cx="3749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0" y="3657600"/>
            <a:ext cx="3749040" cy="73152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0" y="41605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59893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5C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functions/api/ai-search.js · line 35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 · Full Audit · April 11,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39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6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20040"/>
            <a:ext cx="201168" cy="201168"/>
          </a:xfrm>
          <a:prstGeom prst="ellipse">
            <a:avLst/>
          </a:prstGeom>
          <a:solidFill>
            <a:srgbClr val="7C5CE6"/>
          </a:solidFill>
          <a:ln w="12700">
            <a:solidFill>
              <a:srgbClr val="7C5C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0" dirty="0"/>
          </a:p>
        </p:txBody>
      </p:sp>
      <p:sp>
        <p:nvSpPr>
          <p:cNvPr id="6" name="Text 4"/>
          <p:cNvSpPr/>
          <p:nvPr/>
        </p:nvSpPr>
        <p:spPr>
          <a:xfrm>
            <a:off x="5303520" y="2560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0B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 ·  CSS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0" y="30175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Architecture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5303520" y="3931920"/>
            <a:ext cx="731520" cy="54864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0" y="4114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tokens, dark mode, build pipeline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 · Full Audit · April 11,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39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20040"/>
            <a:ext cx="201168" cy="201168"/>
          </a:xfrm>
          <a:prstGeom prst="ellipse">
            <a:avLst/>
          </a:prstGeom>
          <a:solidFill>
            <a:srgbClr val="7C5CE6"/>
          </a:solidFill>
          <a:ln w="12700">
            <a:solidFill>
              <a:srgbClr val="7C5C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 ·  ASSESSMENT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Tokens &amp; Architecture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57200" cy="4572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94560"/>
            <a:ext cx="5623560" cy="402336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623560" cy="73152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957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WELL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743200"/>
            <a:ext cx="52120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design-token system via CSS vars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via [data-theme="dark"]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colors documented for AA contrast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via clamp() fluid typography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Apple-style 16px radius standard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7 !important declarations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accent palette across site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2194560"/>
            <a:ext cx="5486400" cy="402336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2194560"/>
            <a:ext cx="5486400" cy="73152"/>
          </a:xfrm>
          <a:prstGeom prst="rect">
            <a:avLst/>
          </a:prstGeom>
          <a:solidFill>
            <a:srgbClr val="E0A314"/>
          </a:solidFill>
          <a:ln w="12700">
            <a:solidFill>
              <a:srgbClr val="E0A3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3957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0A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WORK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2743200"/>
            <a:ext cx="50749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KB inline CSS in index.html alone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PostCSS or minification build step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inline style="…" attrs across 5 pages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tokens between inline &amp; styles.css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Dark-mode overrides scattered, not centralized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 use raw pixels, not tokens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reduced-motion override on animations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 · Full Audit · April 11,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39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20040"/>
            <a:ext cx="201168" cy="201168"/>
          </a:xfrm>
          <a:prstGeom prst="ellipse">
            <a:avLst/>
          </a:prstGeom>
          <a:solidFill>
            <a:srgbClr val="7C5CE6"/>
          </a:solidFill>
          <a:ln w="12700">
            <a:solidFill>
              <a:srgbClr val="7C5C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 ·  FINDING 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CSS Build Pipeline — Unminified 20 KB Ships Raw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57200" cy="4572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0" y="777240"/>
            <a:ext cx="2194560" cy="411480"/>
          </a:xfrm>
          <a:prstGeom prst="rect">
            <a:avLst>
              <a:gd name="adj" fmla="val 13333"/>
            </a:avLst>
          </a:prstGeom>
          <a:solidFill>
            <a:srgbClr val="E0A314"/>
          </a:solidFill>
          <a:ln w="12700">
            <a:solidFill>
              <a:srgbClr val="E0A3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0" y="777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11274552" cy="137160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240280"/>
            <a:ext cx="10835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css/styles.css is 20 KB uncompressed. A run through Lightning CSS or esbuild would drop it to ~12 KB and inline autoprefixer fallbacks only where needed. Cloudflare Pages build step currently does nothing with CSS.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3749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657600"/>
            <a:ext cx="374904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1605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KB wasted transfer on every cold navigation. Missed opportunity for vendor-prefix pruning.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43400" y="3657600"/>
            <a:ext cx="3749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43400" y="3657600"/>
            <a:ext cx="3749040" cy="73152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26280" y="41605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minimal build.js running Lightning CSS on the Pages build. Target &lt;15 KB. Source maps to reports/.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0" y="3657600"/>
            <a:ext cx="3749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0" y="3657600"/>
            <a:ext cx="3749040" cy="73152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0" y="41605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 · package.json + 1 build file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59893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5C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css/styles.css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 · Full Audit · April 11,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39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6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20040"/>
            <a:ext cx="201168" cy="201168"/>
          </a:xfrm>
          <a:prstGeom prst="ellipse">
            <a:avLst/>
          </a:prstGeom>
          <a:solidFill>
            <a:srgbClr val="7C5CE6"/>
          </a:solidFill>
          <a:ln w="12700">
            <a:solidFill>
              <a:srgbClr val="7C5C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0" dirty="0"/>
          </a:p>
        </p:txBody>
      </p:sp>
      <p:sp>
        <p:nvSpPr>
          <p:cNvPr id="6" name="Text 4"/>
          <p:cNvSpPr/>
          <p:nvPr/>
        </p:nvSpPr>
        <p:spPr>
          <a:xfrm>
            <a:off x="5303520" y="2560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0B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 ·  A11Y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0" y="30175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(WCAG 2.1 AA)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5303520" y="3931920"/>
            <a:ext cx="731520" cy="54864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0" y="4114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Contrast, ARIA, keyboard, touch targets, motion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 · Full Audit · April 11,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39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20040"/>
            <a:ext cx="201168" cy="201168"/>
          </a:xfrm>
          <a:prstGeom prst="ellipse">
            <a:avLst/>
          </a:prstGeom>
          <a:solidFill>
            <a:srgbClr val="7C5CE6"/>
          </a:solidFill>
          <a:ln w="12700">
            <a:solidFill>
              <a:srgbClr val="7C5C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A11Y  ·  ASSESSMENT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AA Coverage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57200" cy="4572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94560"/>
            <a:ext cx="5623560" cy="402336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623560" cy="73152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957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743200"/>
            <a:ext cx="52120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meaningful images have descriptive alt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Skip-to-content link in nav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inputs have labels or aria-label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colors meet AA contrast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&lt;button&gt; elements, not divs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H1 per page, logical heading order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aria-live='polite' on AI answer region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2194560"/>
            <a:ext cx="5486400" cy="402336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2194560"/>
            <a:ext cx="5486400" cy="73152"/>
          </a:xfrm>
          <a:prstGeom prst="rect">
            <a:avLst/>
          </a:prstGeom>
          <a:solidFill>
            <a:srgbClr val="E0A314"/>
          </a:solidFill>
          <a:ln w="12700">
            <a:solidFill>
              <a:srgbClr val="E0A3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3957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0A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2743200"/>
            <a:ext cx="50749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Decorative avatars need role='presentation'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visible focus ring on AI example chips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toggle missing aria-pressed state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 arrows lack aria-controls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dots &lt; 44x44 px touch target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prefers-reduced-motion override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regions don't announce count changes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 · Full Audit · April 11,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39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20040"/>
            <a:ext cx="201168" cy="201168"/>
          </a:xfrm>
          <a:prstGeom prst="ellipse">
            <a:avLst/>
          </a:prstGeom>
          <a:solidFill>
            <a:srgbClr val="7C5CE6"/>
          </a:solidFill>
          <a:ln w="12700">
            <a:solidFill>
              <a:srgbClr val="7C5C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A11Y  ·  FINDING 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prefers-reduced-motion Guard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57200" cy="4572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0" y="777240"/>
            <a:ext cx="2194560" cy="411480"/>
          </a:xfrm>
          <a:prstGeom prst="rect">
            <a:avLst>
              <a:gd name="adj" fmla="val 13333"/>
            </a:avLst>
          </a:prstGeom>
          <a:solidFill>
            <a:srgbClr val="E0A314"/>
          </a:solidFill>
          <a:ln w="12700">
            <a:solidFill>
              <a:srgbClr val="E0A3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0" y="777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11274552" cy="137160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240280"/>
            <a:ext cx="10835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.ai-answer-card uses a fade-up keyframe animation on every answer render. The numbered-list cards also translate on hover. Users who enabled 'Reduce Motion' in their OS will still see these — a WCAG 2.3.3 violation.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3749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657600"/>
            <a:ext cx="374904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1605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with vestibular disorders experience discomfort. WCAG 2.1 AA non-compliance on motion.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43400" y="3657600"/>
            <a:ext cx="3749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43400" y="3657600"/>
            <a:ext cx="3749040" cy="73152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26280" y="41605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animation and hover transforms in @media (prefers-reduced-motion: no-preference) in js/ai-search.js injected CSS.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0" y="3657600"/>
            <a:ext cx="3749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0" y="3657600"/>
            <a:ext cx="3749040" cy="73152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0" y="41605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59893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5C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js/ai-search.js · _injectStyles()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 · Full Audit · April 11,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39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6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20040"/>
            <a:ext cx="201168" cy="201168"/>
          </a:xfrm>
          <a:prstGeom prst="ellipse">
            <a:avLst/>
          </a:prstGeom>
          <a:solidFill>
            <a:srgbClr val="7C5CE6"/>
          </a:solidFill>
          <a:ln w="12700">
            <a:solidFill>
              <a:srgbClr val="7C5C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0" dirty="0"/>
          </a:p>
        </p:txBody>
      </p:sp>
      <p:sp>
        <p:nvSpPr>
          <p:cNvPr id="6" name="Text 4"/>
          <p:cNvSpPr/>
          <p:nvPr/>
        </p:nvSpPr>
        <p:spPr>
          <a:xfrm>
            <a:off x="5303520" y="2560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0B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 · 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0" y="30175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Compliance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5303520" y="3931920"/>
            <a:ext cx="731520" cy="54864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0" y="4114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Privacy, terms, cookies, sub-processors, retention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 · Full Audit · April 11,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20040"/>
            <a:ext cx="201168" cy="201168"/>
          </a:xfrm>
          <a:prstGeom prst="ellipse">
            <a:avLst/>
          </a:prstGeom>
          <a:solidFill>
            <a:srgbClr val="7C5CE6"/>
          </a:solidFill>
          <a:ln w="12700">
            <a:solidFill>
              <a:srgbClr val="7C5C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 ·  ASSESSMENT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Legal Posture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57200" cy="4572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94560"/>
            <a:ext cx="5623560" cy="402336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623560" cy="73152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957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743200"/>
            <a:ext cx="52120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privacy.html + terms.html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third-party analytics beyond CF Insights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Insights is privacy-preserving, cookieless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SSO via redirect — no password handling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respects same-origin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PII captured on AI queries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2194560"/>
            <a:ext cx="5486400" cy="402336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2194560"/>
            <a:ext cx="5486400" cy="73152"/>
          </a:xfrm>
          <a:prstGeom prst="rect">
            <a:avLst/>
          </a:prstGeom>
          <a:solidFill>
            <a:srgbClr val="E0A314"/>
          </a:solidFill>
          <a:ln w="12700">
            <a:solidFill>
              <a:srgbClr val="E0A3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3957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0A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2743200"/>
            <a:ext cx="50749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cookie consent banner (GDPR borderline)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not disclosed as data sub-processor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data-retention clause on AI search queries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DPA link for enterprise users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lacks dispute-resolution jurisdiction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accessibility statement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 · Full Audit · April 11,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6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20040"/>
            <a:ext cx="201168" cy="201168"/>
          </a:xfrm>
          <a:prstGeom prst="ellipse">
            <a:avLst/>
          </a:prstGeom>
          <a:solidFill>
            <a:srgbClr val="7C5CE6"/>
          </a:solidFill>
          <a:ln w="12700">
            <a:solidFill>
              <a:srgbClr val="7C5C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0" dirty="0"/>
          </a:p>
        </p:txBody>
      </p:sp>
      <p:sp>
        <p:nvSpPr>
          <p:cNvPr id="6" name="Text 4"/>
          <p:cNvSpPr/>
          <p:nvPr/>
        </p:nvSpPr>
        <p:spPr>
          <a:xfrm>
            <a:off x="5303520" y="2560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0B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 ·  STRENGTHS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0" y="30175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Working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5303520" y="3931920"/>
            <a:ext cx="731520" cy="54864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0" y="4114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solid foundation worth preserving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 · Full Audit · April 11,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39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20040"/>
            <a:ext cx="201168" cy="201168"/>
          </a:xfrm>
          <a:prstGeom prst="ellipse">
            <a:avLst/>
          </a:prstGeom>
          <a:solidFill>
            <a:srgbClr val="7C5CE6"/>
          </a:solidFill>
          <a:ln w="12700">
            <a:solidFill>
              <a:srgbClr val="7C5C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 ·  KEEP AS-IS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Architectural Wins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57200" cy="4572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94560"/>
            <a:ext cx="11274552" cy="91440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73152" cy="91440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468880"/>
            <a:ext cx="365760" cy="365760"/>
          </a:xfrm>
          <a:prstGeom prst="ellipse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331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Worker architecture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2651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Single-responsibility, clear sections, input validation, grounded RAG prompt with explicit anti-hallucination rules, structured JSON output with latency metrics.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11274552" cy="91440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200400"/>
            <a:ext cx="73152" cy="91440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474720"/>
            <a:ext cx="365760" cy="365760"/>
          </a:xfrm>
          <a:prstGeom prst="ellipse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337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commits + CLAUDE.md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88720" y="3657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feat/fix/style/chore commit history. Auto-commit + stop-before-push produces auditable phase boundaries — unusual and valuable for a solo project.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11274552" cy="91440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206240"/>
            <a:ext cx="73152" cy="91440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4480560"/>
            <a:ext cx="365760" cy="365760"/>
          </a:xfrm>
          <a:prstGeom prst="ellipse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498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4343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Design-token system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88720" y="4663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for colors, radius, shadow, typography. Dark mode via data-theme attribute. Accent colors AA-contrast documented.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5212080"/>
            <a:ext cx="11274552" cy="91440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5212080"/>
            <a:ext cx="73152" cy="91440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5486400"/>
            <a:ext cx="365760" cy="365760"/>
          </a:xfrm>
          <a:prstGeom prst="ellipse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5504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88720" y="5349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discipline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188720" y="5669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(pgvector cosine) + retrieval + grounded completion. Explicit citation markers ([1], [2]) passed through from Worker → Pages Function → frontend.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 · Full Audit · April 11, 2026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39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6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20040"/>
            <a:ext cx="201168" cy="201168"/>
          </a:xfrm>
          <a:prstGeom prst="ellipse">
            <a:avLst/>
          </a:prstGeom>
          <a:solidFill>
            <a:srgbClr val="7C5CE6"/>
          </a:solidFill>
          <a:ln w="12700">
            <a:solidFill>
              <a:srgbClr val="7C5C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0" dirty="0"/>
          </a:p>
        </p:txBody>
      </p:sp>
      <p:sp>
        <p:nvSpPr>
          <p:cNvPr id="6" name="Text 4"/>
          <p:cNvSpPr/>
          <p:nvPr/>
        </p:nvSpPr>
        <p:spPr>
          <a:xfrm>
            <a:off x="5303520" y="2560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0B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 · 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0" y="30175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Plan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5303520" y="3931920"/>
            <a:ext cx="731520" cy="54864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0" y="4114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Prioritized, sequenced, effort-estimated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 · Full Audit · April 11,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39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20040"/>
            <a:ext cx="201168" cy="201168"/>
          </a:xfrm>
          <a:prstGeom prst="ellipse">
            <a:avLst/>
          </a:prstGeom>
          <a:solidFill>
            <a:srgbClr val="7C5CE6"/>
          </a:solidFill>
          <a:ln w="12700">
            <a:solidFill>
              <a:srgbClr val="7C5C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 ·  P0 + P1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— This Week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57200" cy="4572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94560"/>
            <a:ext cx="11274552" cy="530352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73152" cy="53035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9514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3134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Light theme as default; bump migration key to v3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92640" y="2304288"/>
            <a:ext cx="685800" cy="310896"/>
          </a:xfrm>
          <a:prstGeom prst="rect">
            <a:avLst>
              <a:gd name="adj" fmla="val 14706"/>
            </a:avLst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0" y="230428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515600" y="23134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16352"/>
            <a:ext cx="11274552" cy="530352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816352"/>
            <a:ext cx="73152" cy="53035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91693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2935224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or re-encode 8.6 MB popup.mp4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692640" y="2926080"/>
            <a:ext cx="685800" cy="310896"/>
          </a:xfrm>
          <a:prstGeom prst="rect">
            <a:avLst>
              <a:gd name="adj" fmla="val 14706"/>
            </a:avLst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0" y="292608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0" y="293522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438144"/>
            <a:ext cx="11274552" cy="530352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38144"/>
            <a:ext cx="73152" cy="53035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53872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80160" y="3557016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script-src-attr 'unsafe-inline' from CSP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92640" y="3547872"/>
            <a:ext cx="685800" cy="310896"/>
          </a:xfrm>
          <a:prstGeom prst="rect">
            <a:avLst>
              <a:gd name="adj" fmla="val 14706"/>
            </a:avLst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92640" y="354787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515600" y="355701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059936"/>
            <a:ext cx="11274552" cy="530352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059936"/>
            <a:ext cx="73152" cy="5303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160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80160" y="4178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Turnstile or KV rate-limit on /api/ai-search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692640" y="4169664"/>
            <a:ext cx="685800" cy="310896"/>
          </a:xfrm>
          <a:prstGeom prst="rect">
            <a:avLst>
              <a:gd name="adj" fmla="val 1470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92640" y="416966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515600" y="41788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681728"/>
            <a:ext cx="11274552" cy="530352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4681728"/>
            <a:ext cx="73152" cy="5303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47823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280160" y="48006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26 KB inline CSS from index.html → css/home.css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692640" y="4791456"/>
            <a:ext cx="685800" cy="310896"/>
          </a:xfrm>
          <a:prstGeom prst="rect">
            <a:avLst>
              <a:gd name="adj" fmla="val 1470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92640" y="479145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515600" y="4800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5303520"/>
            <a:ext cx="11274552" cy="530352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7200" y="5303520"/>
            <a:ext cx="73152" cy="5303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540410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280160" y="54223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safeHtml() helper; refactor 34 innerHTML sites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692640" y="5413248"/>
            <a:ext cx="685800" cy="310896"/>
          </a:xfrm>
          <a:prstGeom prst="rect">
            <a:avLst>
              <a:gd name="adj" fmla="val 1470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692640" y="541324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0515600" y="54223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hr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57200" y="5925312"/>
            <a:ext cx="11274552" cy="530352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7200" y="5925312"/>
            <a:ext cx="73152" cy="5303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5800" y="602589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1280160" y="6044184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allow-listed Origin on Pages Function CORS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9692640" y="6035040"/>
            <a:ext cx="685800" cy="310896"/>
          </a:xfrm>
          <a:prstGeom prst="rect">
            <a:avLst>
              <a:gd name="adj" fmla="val 1470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92640" y="603504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0515600" y="604418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 · Full Audit · April 11, 2026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39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20040"/>
            <a:ext cx="201168" cy="201168"/>
          </a:xfrm>
          <a:prstGeom prst="ellipse">
            <a:avLst/>
          </a:prstGeom>
          <a:solidFill>
            <a:srgbClr val="7C5CE6"/>
          </a:solidFill>
          <a:ln w="12700">
            <a:solidFill>
              <a:srgbClr val="7C5C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 ·  P2 + P3 + P4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— Polish Week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57200" cy="4572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48840"/>
            <a:ext cx="11274552" cy="36576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48840"/>
            <a:ext cx="73152" cy="365760"/>
          </a:xfrm>
          <a:prstGeom prst="rect">
            <a:avLst/>
          </a:prstGeom>
          <a:solidFill>
            <a:srgbClr val="E0A314"/>
          </a:solidFill>
          <a:ln w="12700">
            <a:solidFill>
              <a:srgbClr val="E0A3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8541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21945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BreadcrumbList JSON-LD on category.html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692640" y="2203704"/>
            <a:ext cx="640080" cy="256032"/>
          </a:xfrm>
          <a:prstGeom prst="rect">
            <a:avLst>
              <a:gd name="adj" fmla="val 14286"/>
            </a:avLst>
          </a:prstGeom>
          <a:solidFill>
            <a:srgbClr val="E0A314"/>
          </a:solidFill>
          <a:ln w="12700">
            <a:solidFill>
              <a:srgbClr val="E0A3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0" y="22037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424160" y="2194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542032"/>
            <a:ext cx="11274552" cy="36576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542032"/>
            <a:ext cx="73152" cy="365760"/>
          </a:xfrm>
          <a:prstGeom prst="rect">
            <a:avLst/>
          </a:prstGeom>
          <a:solidFill>
            <a:srgbClr val="E0A314"/>
          </a:solidFill>
          <a:ln w="12700">
            <a:solidFill>
              <a:srgbClr val="E0A3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57860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25877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Supabase migration; delete js/data.js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692640" y="2596896"/>
            <a:ext cx="640080" cy="256032"/>
          </a:xfrm>
          <a:prstGeom prst="rect">
            <a:avLst>
              <a:gd name="adj" fmla="val 14286"/>
            </a:avLst>
          </a:prstGeom>
          <a:solidFill>
            <a:srgbClr val="E0A314"/>
          </a:solidFill>
          <a:ln w="12700">
            <a:solidFill>
              <a:srgbClr val="E0A3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0" y="259689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424160" y="25877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935224"/>
            <a:ext cx="11274552" cy="36576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935224"/>
            <a:ext cx="73152" cy="365760"/>
          </a:xfrm>
          <a:prstGeom prst="rect">
            <a:avLst/>
          </a:prstGeom>
          <a:solidFill>
            <a:srgbClr val="E0A314"/>
          </a:solidFill>
          <a:ln w="12700">
            <a:solidFill>
              <a:srgbClr val="E0A31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2971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80160" y="29809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homepage meta description for keywords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692640" y="2990088"/>
            <a:ext cx="640080" cy="256032"/>
          </a:xfrm>
          <a:prstGeom prst="rect">
            <a:avLst>
              <a:gd name="adj" fmla="val 14286"/>
            </a:avLst>
          </a:prstGeom>
          <a:solidFill>
            <a:srgbClr val="E0A314"/>
          </a:solidFill>
          <a:ln w="12700">
            <a:solidFill>
              <a:srgbClr val="E0A31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92640" y="29900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424160" y="29809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328416"/>
            <a:ext cx="11274552" cy="36576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328416"/>
            <a:ext cx="73152" cy="365760"/>
          </a:xfrm>
          <a:prstGeom prst="rect">
            <a:avLst/>
          </a:prstGeom>
          <a:solidFill>
            <a:srgbClr val="E0A314"/>
          </a:solidFill>
          <a:ln w="12700">
            <a:solidFill>
              <a:srgbClr val="E0A31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3649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280160" y="337413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prefers-reduced-motion guard around animations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692640" y="3383280"/>
            <a:ext cx="640080" cy="256032"/>
          </a:xfrm>
          <a:prstGeom prst="rect">
            <a:avLst>
              <a:gd name="adj" fmla="val 14286"/>
            </a:avLst>
          </a:prstGeom>
          <a:solidFill>
            <a:srgbClr val="E0A314"/>
          </a:solidFill>
          <a:ln w="12700">
            <a:solidFill>
              <a:srgbClr val="E0A31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92640" y="33832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424160" y="33741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721608"/>
            <a:ext cx="11274552" cy="36576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721608"/>
            <a:ext cx="73152" cy="365760"/>
          </a:xfrm>
          <a:prstGeom prst="rect">
            <a:avLst/>
          </a:prstGeom>
          <a:solidFill>
            <a:srgbClr val="E0A314"/>
          </a:solidFill>
          <a:ln w="12700">
            <a:solidFill>
              <a:srgbClr val="E0A31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375818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280160" y="37673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OpenAI as sub-processor in privacy policy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692640" y="3776472"/>
            <a:ext cx="640080" cy="256032"/>
          </a:xfrm>
          <a:prstGeom prst="rect">
            <a:avLst>
              <a:gd name="adj" fmla="val 14286"/>
            </a:avLst>
          </a:prstGeom>
          <a:solidFill>
            <a:srgbClr val="E0A314"/>
          </a:solidFill>
          <a:ln w="12700">
            <a:solidFill>
              <a:srgbClr val="E0A31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92640" y="37764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424160" y="37673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4114800"/>
            <a:ext cx="11274552" cy="36576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7200" y="4114800"/>
            <a:ext cx="73152" cy="365760"/>
          </a:xfrm>
          <a:prstGeom prst="rect">
            <a:avLst/>
          </a:prstGeom>
          <a:solidFill>
            <a:srgbClr val="E0A314"/>
          </a:solidFill>
          <a:ln w="12700">
            <a:solidFill>
              <a:srgbClr val="E0A31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415137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280160" y="41605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minimal CSS build step (Lightning CSS)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692640" y="4169664"/>
            <a:ext cx="640080" cy="256032"/>
          </a:xfrm>
          <a:prstGeom prst="rect">
            <a:avLst>
              <a:gd name="adj" fmla="val 14286"/>
            </a:avLst>
          </a:prstGeom>
          <a:solidFill>
            <a:srgbClr val="E0A314"/>
          </a:solidFill>
          <a:ln w="12700">
            <a:solidFill>
              <a:srgbClr val="E0A31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692640" y="41696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424160" y="4160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" y="4507992"/>
            <a:ext cx="11274552" cy="36576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7200" y="4507992"/>
            <a:ext cx="73152" cy="36576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5800" y="454456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280160" y="45537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Vitest smoke test for Worker + Pages Function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9692640" y="4562856"/>
            <a:ext cx="640080" cy="256032"/>
          </a:xfrm>
          <a:prstGeom prst="rect">
            <a:avLst>
              <a:gd name="adj" fmla="val 14286"/>
            </a:avLst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92640" y="456285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0424160" y="45537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hr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" y="4901184"/>
            <a:ext cx="11274552" cy="36576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57200" y="4901184"/>
            <a:ext cx="73152" cy="36576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5800" y="49377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1280160" y="494690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aria-pressed on theme toggle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9692640" y="4956048"/>
            <a:ext cx="640080" cy="256032"/>
          </a:xfrm>
          <a:prstGeom prst="rect">
            <a:avLst>
              <a:gd name="adj" fmla="val 14286"/>
            </a:avLst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692640" y="49560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0424160" y="49469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57200" y="5294376"/>
            <a:ext cx="11274552" cy="36576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57200" y="5294376"/>
            <a:ext cx="73152" cy="36576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5800" y="5330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1280160" y="5340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hreflang + lang='ar' dir='rtl' for Arabic spans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9692640" y="5349240"/>
            <a:ext cx="640080" cy="256032"/>
          </a:xfrm>
          <a:prstGeom prst="rect">
            <a:avLst>
              <a:gd name="adj" fmla="val 14286"/>
            </a:avLst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692640" y="5349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0424160" y="53400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57200" y="5687568"/>
            <a:ext cx="11274552" cy="36576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57200" y="5687568"/>
            <a:ext cx="73152" cy="36576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85800" y="572414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1280160" y="573328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Inline-CSS audit: move style attrs to classes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9692640" y="5742432"/>
            <a:ext cx="640080" cy="256032"/>
          </a:xfrm>
          <a:prstGeom prst="rect">
            <a:avLst>
              <a:gd name="adj" fmla="val 14286"/>
            </a:avLst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692640" y="57424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10424160" y="57332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hr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457200" y="6080760"/>
            <a:ext cx="11274552" cy="36576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57200" y="6080760"/>
            <a:ext cx="73152" cy="36576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85800" y="611733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1280160" y="61264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reports/ directory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9692640" y="6135624"/>
            <a:ext cx="640080" cy="256032"/>
          </a:xfrm>
          <a:prstGeom prst="rect">
            <a:avLst>
              <a:gd name="adj" fmla="val 14286"/>
            </a:avLst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692640" y="61356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10424160" y="6126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 · Full Audit · April 11, 2026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39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20040"/>
            <a:ext cx="201168" cy="201168"/>
          </a:xfrm>
          <a:prstGeom prst="ellipse">
            <a:avLst/>
          </a:prstGeom>
          <a:solidFill>
            <a:srgbClr val="7C5CE6"/>
          </a:solidFill>
          <a:ln w="12700">
            <a:solidFill>
              <a:srgbClr val="7C5C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 ·  TARGET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Remediation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57200" cy="4572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457200" y="2103120"/>
          <a:ext cx="11274552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9893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grade: B+ → A−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 · Full Audit · April 11,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39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20040"/>
            <a:ext cx="201168" cy="201168"/>
          </a:xfrm>
          <a:prstGeom prst="ellipse">
            <a:avLst/>
          </a:prstGeom>
          <a:solidFill>
            <a:srgbClr val="7C5CE6"/>
          </a:solidFill>
          <a:ln w="12700">
            <a:solidFill>
              <a:srgbClr val="7C5C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 ·  TIMELINE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Two-Week Sprint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57200" cy="4572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94560"/>
            <a:ext cx="5623560" cy="77724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73152" cy="77724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83080" y="22860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trio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578608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default · remove popup.mp4 · close CSP gap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035808"/>
            <a:ext cx="5623560" cy="77724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035808"/>
            <a:ext cx="73152" cy="77724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1272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83080" y="312724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CSS extraction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419856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Hero, AI-search, Topics, Featured → css/home.css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877056"/>
            <a:ext cx="5623560" cy="77724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877056"/>
            <a:ext cx="73152" cy="77724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9684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83080" y="396849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+ CORS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261104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Turnstile on form · Worker KV limiter · Origin allow-list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718304"/>
            <a:ext cx="5623560" cy="77724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718304"/>
            <a:ext cx="73152" cy="77724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8097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783080" y="480974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safeHtml() refactor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5102352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helper · migrate 34 innerHTML sites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5559552"/>
            <a:ext cx="5623560" cy="77724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5559552"/>
            <a:ext cx="73152" cy="77724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650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783080" y="565099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safeHtml() continued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" y="594360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categories-wire, bookmarks-wire, app.js · QA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63640" y="2194560"/>
            <a:ext cx="5623560" cy="77724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63640" y="2194560"/>
            <a:ext cx="73152" cy="77724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589520" y="22860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schema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46520" y="2578608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BreadcrumbList on category · Organization site-wide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63640" y="3035808"/>
            <a:ext cx="5623560" cy="77724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63640" y="3035808"/>
            <a:ext cx="73152" cy="77724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46520" y="31272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589520" y="312724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hreflang + Arabic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46520" y="3419856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Arabic spans · alternate hreflang links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63640" y="3877056"/>
            <a:ext cx="5623560" cy="77724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63640" y="3877056"/>
            <a:ext cx="73152" cy="77724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46520" y="39684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589520" y="396849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+ legal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446520" y="4261104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meta rewrite · privacy OpenAI disclosure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63640" y="4718304"/>
            <a:ext cx="5623560" cy="77724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63640" y="4718304"/>
            <a:ext cx="73152" cy="77724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46520" y="48097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589520" y="480974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build + tests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446520" y="5102352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 CSS step · Vitest smoke tests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263640" y="5559552"/>
            <a:ext cx="5623560" cy="77724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63640" y="5559552"/>
            <a:ext cx="73152" cy="77724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46520" y="5650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589520" y="565099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QA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446520" y="594360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pages · Lighthouse · publish new audit report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 · Full Audit · April 11, 2026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39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20040"/>
            <a:ext cx="201168" cy="201168"/>
          </a:xfrm>
          <a:prstGeom prst="ellipse">
            <a:avLst/>
          </a:prstGeom>
          <a:solidFill>
            <a:srgbClr val="7C5CE6"/>
          </a:solidFill>
          <a:ln w="12700">
            <a:solidFill>
              <a:srgbClr val="7C5C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 ·  NEXT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Reminders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57200" cy="45720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94560"/>
            <a:ext cx="11274552" cy="91440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73152" cy="914400"/>
          </a:xfrm>
          <a:prstGeom prst="rect">
            <a:avLst/>
          </a:prstGeom>
          <a:solidFill>
            <a:srgbClr val="7C5CE6"/>
          </a:solidFill>
          <a:ln w="12700">
            <a:solidFill>
              <a:srgbClr val="7C5C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31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redeploy pending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26517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wrangler deploy — ships source_row_id + book_number metadata for internal hadith links on AI answer source cards.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11274552" cy="91440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200400"/>
            <a:ext cx="73152" cy="914400"/>
          </a:xfrm>
          <a:prstGeom prst="rect">
            <a:avLst/>
          </a:prstGeom>
          <a:solidFill>
            <a:srgbClr val="7C5CE6"/>
          </a:solidFill>
          <a:ln w="12700">
            <a:solidFill>
              <a:srgbClr val="7C5C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3375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automation decision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3657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reminder: pick Buffer ($6/mo, simplest) or Make.com ($9/mo, most flexible) before the auto-posting phase starts.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11274552" cy="91440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206240"/>
            <a:ext cx="73152" cy="914400"/>
          </a:xfrm>
          <a:prstGeom prst="rect">
            <a:avLst/>
          </a:prstGeom>
          <a:solidFill>
            <a:srgbClr val="7C5CE6"/>
          </a:solidFill>
          <a:ln w="12700">
            <a:solidFill>
              <a:srgbClr val="7C5C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343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policy audit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" y="46634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Supabase anon key is public by design. Verify that RLS is enforced on chunks, hadiths, and bookmarks tables before trusting the anon key.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5212080"/>
            <a:ext cx="11274552" cy="91440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212080"/>
            <a:ext cx="73152" cy="914400"/>
          </a:xfrm>
          <a:prstGeom prst="rect">
            <a:avLst/>
          </a:prstGeom>
          <a:solidFill>
            <a:srgbClr val="7C5CE6"/>
          </a:solidFill>
          <a:ln w="12700">
            <a:solidFill>
              <a:srgbClr val="7C5C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3492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spend cap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" y="56692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monthly hard cap in the OpenAI dashboard ($20–$50) before enabling Turnstile. Protects against runaway cost during rate-limit rollout.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 · Full Audit · April 11,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39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6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" cy="201168"/>
          </a:xfrm>
          <a:prstGeom prst="ellipse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20040"/>
            <a:ext cx="201168" cy="201168"/>
          </a:xfrm>
          <a:prstGeom prst="ellipse">
            <a:avLst/>
          </a:prstGeom>
          <a:solidFill>
            <a:srgbClr val="7C5CE6"/>
          </a:solidFill>
          <a:ln w="12700">
            <a:solidFill>
              <a:srgbClr val="7C5C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-457200" y="-457200"/>
            <a:ext cx="3657600" cy="3657600"/>
          </a:xfrm>
          <a:prstGeom prst="ellipse">
            <a:avLst/>
          </a:prstGeom>
          <a:solidFill>
            <a:srgbClr val="4F72F8">
              <a:alpha val="20000"/>
            </a:srgbClr>
          </a:solidFill>
          <a:ln w="12700">
            <a:solidFill>
              <a:srgbClr val="060C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0" y="4114800"/>
            <a:ext cx="3200400" cy="3200400"/>
          </a:xfrm>
          <a:prstGeom prst="ellipse">
            <a:avLst/>
          </a:prstGeom>
          <a:solidFill>
            <a:srgbClr val="7C5CE6">
              <a:alpha val="25000"/>
            </a:srgbClr>
          </a:solidFill>
          <a:ln w="12700">
            <a:solidFill>
              <a:srgbClr val="060C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03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0B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 ·  THANK YOU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ship the fixes?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457200" y="3611880"/>
            <a:ext cx="914400" cy="54864"/>
          </a:xfrm>
          <a:prstGeom prst="rect">
            <a:avLst/>
          </a:prstGeom>
          <a:solidFill>
            <a:srgbClr val="4F72F8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794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HTML report → Approve sprint → I commit P0 items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B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findings  ·  2 critical  ·  7 high  ·  12 medium  ·  9 low  ·  4 strengths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5120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B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B+ → A−  (avg +9.5 points across 8 categories)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timelesshadith.com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63550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11, 2026 · Full Platform Audit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Timeless Hadith — Full Platform Audit</dc:title>
  <dc:subject>PptxGenJS Presentation</dc:subject>
  <dc:creator>Timeless Hadith</dc:creator>
  <cp:lastModifiedBy>Timeless Hadith</cp:lastModifiedBy>
  <cp:revision>1</cp:revision>
  <dcterms:created xsi:type="dcterms:W3CDTF">2026-04-11T20:04:59Z</dcterms:created>
  <dcterms:modified xsi:type="dcterms:W3CDTF">2026-04-11T20:04:59Z</dcterms:modified>
</cp:coreProperties>
</file>