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AlHudah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 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Implementation Guide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alhudah.com | April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A6E5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of Contents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" cy="36576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Breakdown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Setup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Population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4754880"/>
            <a:ext cx="365760" cy="36576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 Reader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212080"/>
            <a:ext cx="365760" cy="36576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Search &amp;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Mission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the Holy Quran accessible, searchable, and beautifully presented through modern technology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2011680" cy="1645920"/>
          </a:xfrm>
          <a:prstGeom prst="rect">
            <a:avLst/>
          </a:prstGeom>
          <a:solidFill>
            <a:srgbClr val="161F33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6E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Surahs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3017520"/>
            <a:ext cx="2011680" cy="1645920"/>
          </a:xfrm>
          <a:prstGeom prst="rect">
            <a:avLst/>
          </a:prstGeom>
          <a:solidFill>
            <a:srgbClr val="161F33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6E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6,236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60604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3017520"/>
            <a:ext cx="2011680" cy="1645920"/>
          </a:xfrm>
          <a:prstGeom prst="rect">
            <a:avLst/>
          </a:prstGeom>
          <a:solidFill>
            <a:srgbClr val="161F33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6E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75488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Juz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017520"/>
            <a:ext cx="2011680" cy="1645920"/>
          </a:xfrm>
          <a:prstGeom prst="rect">
            <a:avLst/>
          </a:prstGeom>
          <a:solidFill>
            <a:srgbClr val="161F33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A6E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90372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build step, fast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REST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quran.com API v4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translations &amp; tafsir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56032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GPT-4o-mini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&amp; chat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Pages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754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global CDN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40233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4754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Google OAuth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48640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217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proxy &amp; security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548640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DNS/CDN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0" y="6217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SSL, caching, WAF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1188720"/>
            <a:ext cx="2743200" cy="54864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Browser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737360"/>
            <a:ext cx="0" cy="457200"/>
          </a:xfrm>
          <a:prstGeom prst="line">
            <a:avLst/>
          </a:prstGeom>
          <a:noFill/>
          <a:ln w="38100">
            <a:solidFill>
              <a:srgbClr val="C8A8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1828800" cy="1097280"/>
          </a:xfrm>
          <a:prstGeom prst="rect">
            <a:avLst/>
          </a:prstGeom>
          <a:solidFill>
            <a:srgbClr val="161F33"/>
          </a:solidFill>
          <a:ln w="25400">
            <a:solidFill>
              <a:srgbClr val="0A6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377440"/>
            <a:ext cx="1828800" cy="1097280"/>
          </a:xfrm>
          <a:prstGeom prst="rect">
            <a:avLst/>
          </a:prstGeom>
          <a:solidFill>
            <a:srgbClr val="161F33"/>
          </a:solidFill>
          <a:ln w="25400">
            <a:solidFill>
              <a:srgbClr val="0A6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2377440"/>
            <a:ext cx="1828800" cy="1097280"/>
          </a:xfrm>
          <a:prstGeom prst="rect">
            <a:avLst/>
          </a:prstGeom>
          <a:solidFill>
            <a:srgbClr val="161F33"/>
          </a:solidFill>
          <a:ln w="25400">
            <a:solidFill>
              <a:srgbClr val="0A6E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quran.com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2377440"/>
            <a:ext cx="1828800" cy="1097280"/>
          </a:xfrm>
          <a:prstGeom prst="rect">
            <a:avLst/>
          </a:prstGeom>
          <a:solidFill>
            <a:srgbClr val="161F33"/>
          </a:solidFill>
          <a:ln w="25400">
            <a:solidFill>
              <a:srgbClr val="0A6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Data Flow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Cost Estimate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Service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 Tier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Estimated Cost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Cloudflare Pages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Unlimited sites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Supabase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500MB, 50K req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Cloudflare Worker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100K req/day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OpenAI API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Pay per use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~$2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Domain (annual)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~$12/year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~$1/mo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$3/month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0" y="3840480"/>
            <a:ext cx="3657600" cy="100584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0" y="3977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$3/mo</a:t>
            </a:r>
            <a:endParaRPr lang="en-US" sz="5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8A8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 Setup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Domain &amp; Hosting Setup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103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34440" y="1463040"/>
            <a:ext cx="548640" cy="54864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Domain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alhudah.com on Cloudflare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2103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463040"/>
            <a:ext cx="548640" cy="54864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3464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8346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repository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2103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23560" y="1463040"/>
            <a:ext cx="548640" cy="54864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8346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Cloudflare Pages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1280160"/>
            <a:ext cx="2103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18120" y="1463040"/>
            <a:ext cx="548640" cy="54864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76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&amp; DNS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283464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security headers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File Structure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alhudah/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index.html              (Homepage)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surah.html              (Verse reader)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search.html             (AI search)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about.html              (About page)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css/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style.css             (Main styles)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theme.css             (Light/dark)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app.js                (Core logic)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api.js                (Supabase REST)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ai-search.js          (OpenAI integration)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service-worker.js     (PWA caching)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_headers                (CSP, cache rules)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.github/workflows/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6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validate.yml          (CI checks)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Security Policy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default-src 'self'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script-src 'self' cdn.jsdelivr.net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style-src 'self' 'unsafe-inline' fonts.googleapis.com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font-src fonts.gstatic.com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img-src 'self' data: https: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connect-src 'self' api.supabase.co quran.com api.openai.com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include fonts.googleapis.com in connect-src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8A8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Schema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surah_number, name_ar, name_en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6,236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874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ayah_number, surah_id, text_ar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1188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1874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ayah_id, language, text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ayah_id, scholar, content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ayah_id, created_at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Surahs &amp; Ayahs Tables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Surahs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39319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surah_number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1-114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name_ar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Arabic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name_en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English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verses_count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Verse count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Ayahs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9319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ayah_number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1-6,236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surah_id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Link to surah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text_ar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Arabic text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juz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Juz number (1-30)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Hybrid Search System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828800" cy="73152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0" y="1737360"/>
            <a:ext cx="731520" cy="0"/>
          </a:xfrm>
          <a:prstGeom prst="line">
            <a:avLst/>
          </a:prstGeom>
          <a:noFill/>
          <a:ln w="38100">
            <a:solidFill>
              <a:srgbClr val="C8A8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371600"/>
            <a:ext cx="2194560" cy="731520"/>
          </a:xfrm>
          <a:prstGeom prst="rect">
            <a:avLst/>
          </a:prstGeom>
          <a:solidFill>
            <a:srgbClr val="161F33"/>
          </a:solidFill>
          <a:ln w="25400">
            <a:solidFill>
              <a:srgbClr val="0A6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1737360"/>
            <a:ext cx="731520" cy="0"/>
          </a:xfrm>
          <a:prstGeom prst="line">
            <a:avLst/>
          </a:prstGeom>
          <a:noFill/>
          <a:ln w="38100">
            <a:solidFill>
              <a:srgbClr val="C8A8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371600"/>
            <a:ext cx="1828800" cy="73152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Results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Search: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keyword matching on Arabic text and translations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Search: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 using OpenAI embeddings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</a:t>
            </a:r>
            <a:pPr algn="l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— speed + semantic meaning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Row Level Security (RLS)</a:t>
            </a:r>
            <a:endParaRPr lang="en-US" sz="4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Table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Policy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bookmarks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SELECT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auth.uid() = user_id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bookmarks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INSERT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auth.uid() = user_id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bookmarks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DELETE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auth.uid() = user_id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ayahs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SELECT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Public (anon key OK)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translations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SELECT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Public (anon key OK)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tafsir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SELECT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Public (anon key OK)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ensures user bookmarks are private while Quran data is public and fast.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8A8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Population</a:t>
            </a:r>
            <a:endParaRPr lang="en-US" sz="4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Quran Data Sources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Tanzil.net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text: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format with full diacritics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languages, offline-friendly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parse locally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(no API call)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quran.com API v4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with scholar info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Tafsir: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major scholars available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REST API, live updates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API call (~200ms)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quran.com API v4 Endpoints</a:t>
            </a:r>
            <a:endParaRPr lang="en-US" sz="4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Endpoint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/chapters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Get all 114 surahs with metadata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/verses/by_chapter/{id}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Verses for a surah (paginated)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/chapters/{id}/info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Surah introduction &amp; details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/translations?language=en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List available translations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/tafsirs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List tafsir sources (Ibn Kathir, etc)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/ayahs/{id}/tafsirs?tafsir_id=13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Tafsir for a specific verse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Pipeline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0"/>
            <a:ext cx="1645920" cy="109728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Tanzil XML / quran.com API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03120" y="2560320"/>
            <a:ext cx="457200" cy="0"/>
          </a:xfrm>
          <a:prstGeom prst="line">
            <a:avLst/>
          </a:prstGeom>
          <a:noFill/>
          <a:ln w="38100">
            <a:solidFill>
              <a:srgbClr val="C8A8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011680"/>
            <a:ext cx="1645920" cy="109728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structured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2560320"/>
            <a:ext cx="457200" cy="0"/>
          </a:xfrm>
          <a:prstGeom prst="line">
            <a:avLst/>
          </a:prstGeom>
          <a:noFill/>
          <a:ln w="38100">
            <a:solidFill>
              <a:srgbClr val="C8A8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2011680"/>
            <a:ext cx="1645920" cy="109728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schema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560320"/>
            <a:ext cx="457200" cy="0"/>
          </a:xfrm>
          <a:prstGeom prst="line">
            <a:avLst/>
          </a:prstGeom>
          <a:noFill/>
          <a:ln w="38100">
            <a:solidFill>
              <a:srgbClr val="C8A8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011680"/>
            <a:ext cx="1645920" cy="109728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load to Supabase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2560320"/>
            <a:ext cx="457200" cy="0"/>
          </a:xfrm>
          <a:prstGeom prst="line">
            <a:avLst/>
          </a:prstGeom>
          <a:noFill/>
          <a:ln w="38100">
            <a:solidFill>
              <a:srgbClr val="C8A8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2011680"/>
            <a:ext cx="1645920" cy="109728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2606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row counts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8A8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4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System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645920" cy="914400"/>
          </a:xfrm>
          <a:prstGeom prst="rect">
            <a:avLst/>
          </a:prstGeom>
          <a:solidFill>
            <a:srgbClr val="0A6E5C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1188720"/>
            <a:ext cx="1645920" cy="914400"/>
          </a:xfrm>
          <a:prstGeom prst="rect">
            <a:avLst/>
          </a:prstGeom>
          <a:solidFill>
            <a:srgbClr val="C8A84E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188720"/>
            <a:ext cx="1645920" cy="914400"/>
          </a:xfrm>
          <a:prstGeom prst="rect">
            <a:avLst/>
          </a:prstGeom>
          <a:solidFill>
            <a:srgbClr val="0B1120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188720"/>
            <a:ext cx="1645920" cy="91440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Arial Black, 36-44pt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Calibri, 14-16pt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</a:t>
            </a:r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Consolas, 12pt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017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Margins: 0.5in minimum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Gaps: 0.3-0.5in between blocks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height: 1.5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padding: 0.2in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Site Pages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2044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reader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verses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2860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page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22860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of use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33832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2044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2044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33832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4652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cache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Homepage Layout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solidFill>
            <a:srgbClr val="161F33"/>
          </a:solidFill>
          <a:ln w="12700">
            <a:solidFill>
              <a:srgbClr val="0A6E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234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Quran heading + tagline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solidFill>
            <a:srgbClr val="161F33"/>
          </a:solidFill>
          <a:ln w="12700">
            <a:solidFill>
              <a:srgbClr val="0A6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Full-width search bar + AI power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solidFill>
            <a:srgbClr val="161F33"/>
          </a:solidFill>
          <a:ln w="12700">
            <a:solidFill>
              <a:srgbClr val="0A6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of the day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solidFill>
            <a:srgbClr val="161F33"/>
          </a:solidFill>
          <a:ln w="12700">
            <a:solidFill>
              <a:srgbClr val="0A6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114 surahs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 &amp; Dark Theme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749040" cy="27432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057400"/>
            <a:ext cx="3749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161F33"/>
          </a:solidFill>
          <a:ln w="25400">
            <a:solidFill>
              <a:srgbClr val="2A365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3749040" cy="27432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2057400"/>
            <a:ext cx="3749040" cy="2468880"/>
          </a:xfrm>
          <a:prstGeom prst="rect">
            <a:avLst/>
          </a:prstGeom>
          <a:solidFill>
            <a:srgbClr val="0B1120"/>
          </a:solidFill>
          <a:ln w="12700">
            <a:solidFill>
              <a:srgbClr val="2A3650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Progressive Web App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554480" y="1280160"/>
            <a:ext cx="731520" cy="73152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screen, desktop app experience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280160"/>
            <a:ext cx="731520" cy="73152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514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caches core assets &amp;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1280160"/>
            <a:ext cx="731520" cy="731520"/>
          </a:xfrm>
          <a:prstGeom prst="ellipse">
            <a:avLst/>
          </a:prstGeom>
          <a:solidFill>
            <a:srgbClr val="0A6E5C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0936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514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users of new tafsir or features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8A8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Quran Reader</a:t>
            </a:r>
            <a:endParaRPr lang="en-US" sz="4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Browse 114 Surahs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الفاتحة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Al-Fatihah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verses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371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البقرة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Al-Baqarah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 verses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371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آل عمران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'Imran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2377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verses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and 111 more surahs with instant navigation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Verse-by-Verse Reading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Al-Fatihah 1:1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بِسْمِ اللَّهِ الرَّحْمَٰنِ الرَّحِيمِ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name of Allah, the Most Gracious, the Most Merciful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Urdu: اللہ کے نام سے جو بہت مہربان اور بہت رحم کرنے والا ہے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7863840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 |  Tafsir  |  Share  |  Copy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Navigation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645920"/>
          </a:xfrm>
          <a:prstGeom prst="rect">
            <a:avLst/>
          </a:prstGeom>
          <a:solidFill>
            <a:srgbClr val="161F33"/>
          </a:solidFill>
          <a:ln w="25400">
            <a:solidFill>
              <a:srgbClr val="0A6E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Juz Selector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between 30 sections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4023360" cy="1645920"/>
          </a:xfrm>
          <a:prstGeom prst="rect">
            <a:avLst/>
          </a:prstGeom>
          <a:solidFill>
            <a:srgbClr val="161F33"/>
          </a:solidFill>
          <a:ln w="25400">
            <a:solidFill>
              <a:srgbClr val="0A6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Prev/Next Surah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874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Chapter-by-chapter browsing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4023360" cy="1645920"/>
          </a:xfrm>
          <a:prstGeom prst="rect">
            <a:avLst/>
          </a:prstGeom>
          <a:solidFill>
            <a:srgbClr val="161F33"/>
          </a:solidFill>
          <a:ln w="25400">
            <a:solidFill>
              <a:srgbClr val="0A6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to Verse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any ayah instantly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108960"/>
            <a:ext cx="4023360" cy="1645920"/>
          </a:xfrm>
          <a:prstGeom prst="rect">
            <a:avLst/>
          </a:prstGeom>
          <a:solidFill>
            <a:srgbClr val="161F33"/>
          </a:solidFill>
          <a:ln w="25400">
            <a:solidFill>
              <a:srgbClr val="0A6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Bar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703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reading position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 &amp; Share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save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to account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anytime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notes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7830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Share API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cards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link with meta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copy to clipboard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8A8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Tafsir System</a:t>
            </a:r>
            <a:endParaRPr lang="en-US" sz="4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Multiple Tafsir Sources</a:t>
            </a:r>
            <a:endParaRPr lang="en-US" sz="4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Scholar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Language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Ibn Kathir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Arabic/English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Classical, comprehensive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Jalalayn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Arabic/English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Concise &amp; detailed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Maududi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English/Urdu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Modern interpretation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Saadi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Arabic/English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Linguistic analysis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Al-Tabari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Arabic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Historical context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Qurtubi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Arabic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Legal rulings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3-Level Cache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3200400" cy="64008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371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834640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3200400" cy="64008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960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-91440" y="457200"/>
            <a:ext cx="3200400" cy="64008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548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548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caching ensures Quran data loads instantly to users worldwide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8A8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Search</a:t>
            </a:r>
            <a:endParaRPr lang="en-US" sz="4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 Quran Search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natural language query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828800"/>
            <a:ext cx="274320" cy="0"/>
          </a:xfrm>
          <a:prstGeom prst="line">
            <a:avLst/>
          </a:prstGeom>
          <a:noFill/>
          <a:ln w="25400">
            <a:solidFill>
              <a:srgbClr val="0A6E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37160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vector (OpenAI)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0" y="1828800"/>
            <a:ext cx="274320" cy="0"/>
          </a:xfrm>
          <a:prstGeom prst="line">
            <a:avLst/>
          </a:prstGeom>
          <a:noFill/>
          <a:ln w="25400">
            <a:solidFill>
              <a:srgbClr val="0A6E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37160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+ semantic match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1828800"/>
            <a:ext cx="274320" cy="0"/>
          </a:xfrm>
          <a:prstGeom prst="line">
            <a:avLst/>
          </a:prstGeom>
          <a:noFill/>
          <a:ln w="25400">
            <a:solidFill>
              <a:srgbClr val="0A6E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37160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score results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1828800"/>
            <a:ext cx="274320" cy="0"/>
          </a:xfrm>
          <a:prstGeom prst="line">
            <a:avLst/>
          </a:prstGeom>
          <a:noFill/>
          <a:ln w="25400">
            <a:solidFill>
              <a:srgbClr val="0A6E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137160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6384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response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6517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'What does Islam say about mercy?' → Searches ayahs with related concepts → Returns verses with AI explanation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Secure API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011680" cy="64008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0" y="1691640"/>
            <a:ext cx="731520" cy="0"/>
          </a:xfrm>
          <a:prstGeom prst="line">
            <a:avLst/>
          </a:prstGeom>
          <a:noFill/>
          <a:ln w="38100">
            <a:solidFill>
              <a:srgbClr val="C8A8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371600"/>
            <a:ext cx="2011680" cy="640080"/>
          </a:xfrm>
          <a:prstGeom prst="rect">
            <a:avLst/>
          </a:prstGeom>
          <a:solidFill>
            <a:srgbClr val="161F33"/>
          </a:solidFill>
          <a:ln w="25400">
            <a:solidFill>
              <a:srgbClr val="0A6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691640"/>
            <a:ext cx="731520" cy="0"/>
          </a:xfrm>
          <a:prstGeom prst="line">
            <a:avLst/>
          </a:prstGeom>
          <a:noFill/>
          <a:ln w="38100">
            <a:solidFill>
              <a:srgbClr val="C8A8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371600"/>
            <a:ext cx="2011680" cy="64008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Protected: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key stored in Cloudflare Worker secret, never exposed to browser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abuse and excessive API costs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Validation: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inputs before forwarding to OpenAI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Search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(native browser)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Browsers: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Safari on iOS 14.5+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 for English &amp; Arabic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 if microphone unavailable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 Cost Analysis</a:t>
            </a:r>
            <a:endParaRPr lang="en-US" sz="4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280160"/>
          <a:ext cx="640080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Cost per 1000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Monthly (10K searches)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Embedding (1,536 dims)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$0.002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$0.02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Chat Completion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$0.15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$1.50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~$1.50/mo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286000" y="3200400"/>
            <a:ext cx="4572000" cy="1097280"/>
          </a:xfrm>
          <a:prstGeom prst="rect">
            <a:avLst/>
          </a:prstGeom>
          <a:solidFill>
            <a:srgbClr val="0A6E5C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3383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~$0.02 per 1000 searches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8A8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&amp; Performance</a:t>
            </a:r>
            <a:endParaRPr lang="en-US" sz="4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 Engine Optimization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Tags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description, OG tags per page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Schema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Book, FAQPage markup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heading hierarchy &amp; 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8346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Sitemap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Auto-generated, submitted to GSC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Targets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6E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2.5s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Contentful Paint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6E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0.1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66160" y="21031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Layout Shift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6E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200ms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21031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to Next Paint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optimization, lazy loading, service worker caching, CSS/JS minification, edge caching via Cloudflare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8A8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</a:t>
            </a:r>
            <a:endParaRPr lang="en-US" sz="4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Pipeline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committed to main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828800"/>
            <a:ext cx="320040" cy="0"/>
          </a:xfrm>
          <a:prstGeom prst="line">
            <a:avLst/>
          </a:prstGeom>
          <a:noFill/>
          <a:ln w="25400">
            <a:solidFill>
              <a:srgbClr val="0A6E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13716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tests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320040" cy="0"/>
          </a:xfrm>
          <a:prstGeom prst="line">
            <a:avLst/>
          </a:prstGeom>
          <a:noFill/>
          <a:ln w="25400">
            <a:solidFill>
              <a:srgbClr val="0A6E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716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builds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828800"/>
            <a:ext cx="320040" cy="0"/>
          </a:xfrm>
          <a:prstGeom prst="line">
            <a:avLst/>
          </a:prstGeom>
          <a:noFill/>
          <a:ln w="25400">
            <a:solidFill>
              <a:srgbClr val="0A6E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5160" y="13716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86600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8660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serves site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deployment: Changes push to main → auto-deploy to Cloudflare Pages in ~30 seconds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 Checklist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live with SSL certificate configured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deployed and tested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project created with full schema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key configured in Worker secret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caching working offline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metadata &amp; SEO tags implemented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responsiveness verified (all screen sizes)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score 90+ on all metrics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</a:t>
            </a:r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error tracking enabled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</a:t>
            </a:r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monitoring configured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84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8A8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Timeline &amp; Summary</a:t>
            </a:r>
            <a:endParaRPr lang="en-US" sz="4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Phased Execution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618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0-1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" y="1261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Database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1261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476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947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Reader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947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33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4-5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633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Tafsir &amp; Search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633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192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6-7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3192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Deploy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3192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05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8-9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4005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Launch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0050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Lessons from Timeless Hadith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161F33"/>
          </a:solidFill>
          <a:ln w="12700">
            <a:solidFill>
              <a:srgbClr val="0A6E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 Headers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font domains in connect-src for Google Fonts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4023360" cy="1463040"/>
          </a:xfrm>
          <a:prstGeom prst="rect">
            <a:avLst/>
          </a:prstGeom>
          <a:solidFill>
            <a:srgbClr val="161F33"/>
          </a:solidFill>
          <a:ln w="12700">
            <a:solidFill>
              <a:srgbClr val="0A6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Flash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theme before first paint to prevent flicker on page load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161F33"/>
          </a:solidFill>
          <a:ln w="12700">
            <a:solidFill>
              <a:srgbClr val="0A6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font caching separately; font failures break offline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834640"/>
            <a:ext cx="4023360" cy="1463040"/>
          </a:xfrm>
          <a:prstGeom prst="rect">
            <a:avLst/>
          </a:prstGeom>
          <a:solidFill>
            <a:srgbClr val="161F33"/>
          </a:solidFill>
          <a:ln w="12700">
            <a:solidFill>
              <a:srgbClr val="0A6E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Fonts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337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Play needs explicit font-weight declaration for bold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4023360" cy="1463040"/>
          </a:xfrm>
          <a:prstGeom prst="rect">
            <a:avLst/>
          </a:prstGeom>
          <a:solidFill>
            <a:srgbClr val="161F33"/>
          </a:solidFill>
          <a:ln w="12700">
            <a:solidFill>
              <a:srgbClr val="0A6E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Workflow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983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commit locally first, ask before pushing to main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6E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114 Surahs | 6,236 Verses | 30 Juz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Translations | 6 Tafsir 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8A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AI Search | ~$3/month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8A8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6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alhudah.com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ehsaasradio-bot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ehsaasradio@gmail.com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A84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AlHudah Quran Platform — Complete Implementation Guide</dc:title>
  <dc:subject>PptxGenJS Presentation</dc:subject>
  <dc:creator>AlHudah Team</dc:creator>
  <cp:lastModifiedBy>AlHudah Team</cp:lastModifiedBy>
  <cp:revision>1</cp:revision>
  <dcterms:created xsi:type="dcterms:W3CDTF">2026-04-13T15:27:38Z</dcterms:created>
  <dcterms:modified xsi:type="dcterms:W3CDTF">2026-04-13T15:27:38Z</dcterms:modified>
</cp:coreProperties>
</file>